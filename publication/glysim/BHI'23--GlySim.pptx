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
  </p:notesMasterIdLst>
  <p:sldIdLst>
    <p:sldId id="256" r:id="rId2"/>
    <p:sldId id="257" r:id="rId3"/>
  </p:sldIdLst>
  <p:sldSz cx="43891200" cy="32918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 roundtripDataSignature="AMtx7mj1UBTNR0TES1Zywd+YrLqgcNyn2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45"/>
  </p:normalViewPr>
  <p:slideViewPr>
    <p:cSldViewPr snapToGrid="0">
      <p:cViewPr>
        <p:scale>
          <a:sx n="78" d="100"/>
          <a:sy n="78" d="100"/>
        </p:scale>
        <p:origin x="168" y="-2720"/>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customschemas.google.com/relationships/presentationmetadata" Target="metadata"/><Relationship Id="rId3" Type="http://schemas.openxmlformats.org/officeDocument/2006/relationships/slide" Target="slides/slide2.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heme" Target="theme/theme1.xml"/><Relationship Id="rId10" Type="http://schemas.openxmlformats.org/officeDocument/2006/relationships/viewProps" Target="viewProps.xml"/><Relationship Id="rId4" Type="http://schemas.openxmlformats.org/officeDocument/2006/relationships/notesMaster" Target="notesMasters/notes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6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6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6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6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6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6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6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6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6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6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6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6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6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6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6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6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6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6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6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6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6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
        <p:cNvGrpSpPr/>
        <p:nvPr/>
      </p:nvGrpSpPr>
      <p:grpSpPr>
        <a:xfrm>
          <a:off x="0" y="0"/>
          <a:ext cx="0" cy="0"/>
          <a:chOff x="0" y="0"/>
          <a:chExt cx="0" cy="0"/>
        </a:xfrm>
      </p:grpSpPr>
      <p:sp>
        <p:nvSpPr>
          <p:cNvPr id="20" name="Google Shape;20;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 name="Google Shape;21;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9" name="Google Shape;4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ue Background Poster">
  <p:cSld name="Blue Background Poster">
    <p:spTree>
      <p:nvGrpSpPr>
        <p:cNvPr id="1" name="Shape 10"/>
        <p:cNvGrpSpPr/>
        <p:nvPr/>
      </p:nvGrpSpPr>
      <p:grpSpPr>
        <a:xfrm>
          <a:off x="0" y="0"/>
          <a:ext cx="0" cy="0"/>
          <a:chOff x="0" y="0"/>
          <a:chExt cx="0" cy="0"/>
        </a:xfrm>
      </p:grpSpPr>
      <p:sp>
        <p:nvSpPr>
          <p:cNvPr id="11" name="Google Shape;11;p4"/>
          <p:cNvSpPr/>
          <p:nvPr/>
        </p:nvSpPr>
        <p:spPr>
          <a:xfrm>
            <a:off x="0" y="3886200"/>
            <a:ext cx="43891200" cy="29032200"/>
          </a:xfrm>
          <a:prstGeom prst="rect">
            <a:avLst/>
          </a:prstGeom>
          <a:solidFill>
            <a:srgbClr val="FFC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8600" b="0" i="0" u="none" strike="noStrike" cap="none">
              <a:solidFill>
                <a:schemeClr val="lt1"/>
              </a:solidFill>
              <a:latin typeface="Arial"/>
              <a:ea typeface="Arial"/>
              <a:cs typeface="Arial"/>
              <a:sym typeface="Arial"/>
            </a:endParaRPr>
          </a:p>
        </p:txBody>
      </p:sp>
      <p:cxnSp>
        <p:nvCxnSpPr>
          <p:cNvPr id="12" name="Google Shape;12;p4"/>
          <p:cNvCxnSpPr/>
          <p:nvPr/>
        </p:nvCxnSpPr>
        <p:spPr>
          <a:xfrm>
            <a:off x="0" y="4038600"/>
            <a:ext cx="43891200" cy="0"/>
          </a:xfrm>
          <a:prstGeom prst="straightConnector1">
            <a:avLst/>
          </a:prstGeom>
          <a:noFill/>
          <a:ln w="381000" cap="flat" cmpd="sng">
            <a:solidFill>
              <a:schemeClr val="dk2"/>
            </a:solidFill>
            <a:prstDash val="solid"/>
            <a:round/>
            <a:headEnd type="none" w="sm" len="sm"/>
            <a:tailEnd type="none" w="sm" len="sm"/>
          </a:ln>
          <a:effectLst>
            <a:outerShdw blurRad="40000" dist="20000" dir="5400000" rotWithShape="0">
              <a:srgbClr val="000000">
                <a:alpha val="37647"/>
              </a:srgbClr>
            </a:outerShdw>
          </a:effectLst>
        </p:spPr>
      </p:cxnSp>
      <p:pic>
        <p:nvPicPr>
          <p:cNvPr id="13" name="Google Shape;13;p4"/>
          <p:cNvPicPr preferRelativeResize="0"/>
          <p:nvPr/>
        </p:nvPicPr>
        <p:blipFill rotWithShape="1">
          <a:blip r:embed="rId2">
            <a:alphaModFix/>
          </a:blip>
          <a:srcRect/>
          <a:stretch/>
        </p:blipFill>
        <p:spPr>
          <a:xfrm>
            <a:off x="32958693" y="29284612"/>
            <a:ext cx="9749213" cy="27432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range Background Poster">
  <p:cSld name="Orange Background Poster">
    <p:spTree>
      <p:nvGrpSpPr>
        <p:cNvPr id="1" name="Shape 14"/>
        <p:cNvGrpSpPr/>
        <p:nvPr/>
      </p:nvGrpSpPr>
      <p:grpSpPr>
        <a:xfrm>
          <a:off x="0" y="0"/>
          <a:ext cx="0" cy="0"/>
          <a:chOff x="0" y="0"/>
          <a:chExt cx="0" cy="0"/>
        </a:xfrm>
      </p:grpSpPr>
      <p:sp>
        <p:nvSpPr>
          <p:cNvPr id="15" name="Google Shape;15;p5"/>
          <p:cNvSpPr/>
          <p:nvPr/>
        </p:nvSpPr>
        <p:spPr>
          <a:xfrm>
            <a:off x="0" y="3886200"/>
            <a:ext cx="43891200" cy="29032200"/>
          </a:xfrm>
          <a:prstGeom prst="rect">
            <a:avLst/>
          </a:prstGeom>
          <a:solidFill>
            <a:schemeClr val="dk2"/>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Arial"/>
              <a:ea typeface="Arial"/>
              <a:cs typeface="Arial"/>
              <a:sym typeface="Arial"/>
            </a:endParaRPr>
          </a:p>
        </p:txBody>
      </p:sp>
      <p:cxnSp>
        <p:nvCxnSpPr>
          <p:cNvPr id="16" name="Google Shape;16;p5"/>
          <p:cNvCxnSpPr/>
          <p:nvPr/>
        </p:nvCxnSpPr>
        <p:spPr>
          <a:xfrm>
            <a:off x="0" y="4038600"/>
            <a:ext cx="43891200" cy="0"/>
          </a:xfrm>
          <a:prstGeom prst="straightConnector1">
            <a:avLst/>
          </a:prstGeom>
          <a:noFill/>
          <a:ln w="381000" cap="flat" cmpd="sng">
            <a:solidFill>
              <a:srgbClr val="FFC000"/>
            </a:solidFill>
            <a:prstDash val="solid"/>
            <a:round/>
            <a:headEnd type="none" w="sm" len="sm"/>
            <a:tailEnd type="none" w="sm" len="sm"/>
          </a:ln>
          <a:effectLst>
            <a:outerShdw blurRad="40000" dist="20000" dir="5400000" rotWithShape="0">
              <a:srgbClr val="000000">
                <a:alpha val="37647"/>
              </a:srgbClr>
            </a:outerShdw>
          </a:effectLst>
        </p:spPr>
      </p:cxnSp>
      <p:pic>
        <p:nvPicPr>
          <p:cNvPr id="17" name="Google Shape;17;p5"/>
          <p:cNvPicPr preferRelativeResize="0"/>
          <p:nvPr/>
        </p:nvPicPr>
        <p:blipFill rotWithShape="1">
          <a:blip r:embed="rId2">
            <a:alphaModFix/>
          </a:blip>
          <a:srcRect/>
          <a:stretch/>
        </p:blipFill>
        <p:spPr>
          <a:xfrm>
            <a:off x="32958693" y="29284612"/>
            <a:ext cx="9749213" cy="274319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9.png"/><Relationship Id="rId2" Type="http://schemas.openxmlformats.org/officeDocument/2006/relationships/notesSlide" Target="../notesSlides/notesSlide1.xml"/><Relationship Id="rId16"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hyperlink" Target="https://ghasemzadeh.com/" TargetMode="External"/><Relationship Id="rId5" Type="http://schemas.openxmlformats.org/officeDocument/2006/relationships/image" Target="../media/image5.png"/><Relationship Id="rId15" Type="http://schemas.openxmlformats.org/officeDocument/2006/relationships/image" Target="../media/image12.png"/><Relationship Id="rId10" Type="http://schemas.openxmlformats.org/officeDocument/2006/relationships/hyperlink" Target="mailto:aarefeen@asu.edu" TargetMode="External"/><Relationship Id="rId4" Type="http://schemas.openxmlformats.org/officeDocument/2006/relationships/image" Target="../media/image4.png"/><Relationship Id="rId9" Type="http://schemas.openxmlformats.org/officeDocument/2006/relationships/hyperlink" Target="http://asiful-arefeen.com" TargetMode="External"/><Relationship Id="rId14" Type="http://schemas.openxmlformats.org/officeDocument/2006/relationships/image" Target="../media/image1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Google Shape;23;p1"/>
          <p:cNvSpPr/>
          <p:nvPr/>
        </p:nvSpPr>
        <p:spPr>
          <a:xfrm>
            <a:off x="1143000" y="2011363"/>
            <a:ext cx="41605200" cy="1292100"/>
          </a:xfrm>
          <a:prstGeom prst="rect">
            <a:avLst/>
          </a:prstGeom>
          <a:noFill/>
          <a:ln>
            <a:noFill/>
          </a:ln>
        </p:spPr>
        <p:txBody>
          <a:bodyPr spcFirstLastPara="1" wrap="square" lIns="91225" tIns="45600" rIns="91225" bIns="45600" anchor="t" anchorCtr="0">
            <a:spAutoFit/>
          </a:bodyPr>
          <a:lstStyle/>
          <a:p>
            <a:pPr marL="0" marR="0" lvl="0" indent="0" algn="l" rtl="0">
              <a:spcBef>
                <a:spcPts val="0"/>
              </a:spcBef>
              <a:spcAft>
                <a:spcPts val="0"/>
              </a:spcAft>
              <a:buNone/>
            </a:pPr>
            <a:r>
              <a:rPr lang="en-US" sz="5000" b="1" u="sng">
                <a:solidFill>
                  <a:schemeClr val="dk1"/>
                </a:solidFill>
              </a:rPr>
              <a:t>Asiful Arefeen</a:t>
            </a:r>
            <a:r>
              <a:rPr lang="en-US" sz="5000" b="1">
                <a:solidFill>
                  <a:schemeClr val="dk1"/>
                </a:solidFill>
              </a:rPr>
              <a:t> </a:t>
            </a:r>
            <a:r>
              <a:rPr lang="en-US" sz="5000" b="1" i="0" u="none" strike="noStrike" cap="none">
                <a:solidFill>
                  <a:schemeClr val="dk1"/>
                </a:solidFill>
                <a:latin typeface="Arial"/>
                <a:ea typeface="Arial"/>
                <a:cs typeface="Arial"/>
                <a:sym typeface="Arial"/>
              </a:rPr>
              <a:t>and </a:t>
            </a:r>
            <a:r>
              <a:rPr lang="en-US" sz="5000" b="1">
                <a:solidFill>
                  <a:schemeClr val="dk1"/>
                </a:solidFill>
              </a:rPr>
              <a:t>Hassan Ghasemzadeh</a:t>
            </a:r>
            <a:br>
              <a:rPr lang="en-US" sz="4800" b="1" i="0" u="none" strike="noStrike" cap="none">
                <a:solidFill>
                  <a:schemeClr val="dk1"/>
                </a:solidFill>
                <a:latin typeface="Arial"/>
                <a:ea typeface="Arial"/>
                <a:cs typeface="Arial"/>
                <a:sym typeface="Arial"/>
              </a:rPr>
            </a:br>
            <a:r>
              <a:rPr lang="en-US" sz="2800" b="1" i="0" u="none" strike="noStrike" cap="none">
                <a:solidFill>
                  <a:schemeClr val="dk1"/>
                </a:solidFill>
                <a:latin typeface="Arial"/>
                <a:ea typeface="Arial"/>
                <a:cs typeface="Arial"/>
                <a:sym typeface="Arial"/>
              </a:rPr>
              <a:t>Embedded Machine Intelligence </a:t>
            </a:r>
            <a:r>
              <a:rPr lang="en-US" sz="2800" b="1">
                <a:solidFill>
                  <a:schemeClr val="dk1"/>
                </a:solidFill>
              </a:rPr>
              <a:t>L</a:t>
            </a:r>
            <a:r>
              <a:rPr lang="en-US" sz="2800" b="1" i="0" u="none" strike="noStrike" cap="none">
                <a:solidFill>
                  <a:schemeClr val="dk1"/>
                </a:solidFill>
                <a:latin typeface="Arial"/>
                <a:ea typeface="Arial"/>
                <a:cs typeface="Arial"/>
                <a:sym typeface="Arial"/>
              </a:rPr>
              <a:t>ab (EMIL)</a:t>
            </a:r>
            <a:r>
              <a:rPr lang="en-US" sz="2800" b="1">
                <a:solidFill>
                  <a:schemeClr val="dk1"/>
                </a:solidFill>
              </a:rPr>
              <a:t>, </a:t>
            </a:r>
            <a:r>
              <a:rPr lang="en-US" sz="2800" b="1" i="0" u="none" strike="noStrike" cap="none">
                <a:solidFill>
                  <a:schemeClr val="dk1"/>
                </a:solidFill>
                <a:latin typeface="Arial"/>
                <a:ea typeface="Arial"/>
                <a:cs typeface="Arial"/>
                <a:sym typeface="Arial"/>
              </a:rPr>
              <a:t>College of Health Solutions, Arizona State University</a:t>
            </a:r>
            <a:endParaRPr/>
          </a:p>
        </p:txBody>
      </p:sp>
      <p:sp>
        <p:nvSpPr>
          <p:cNvPr id="24" name="Google Shape;24;p1"/>
          <p:cNvSpPr txBox="1"/>
          <p:nvPr/>
        </p:nvSpPr>
        <p:spPr>
          <a:xfrm>
            <a:off x="1143000" y="609600"/>
            <a:ext cx="41605200" cy="1231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7400" b="1">
                <a:solidFill>
                  <a:schemeClr val="dk2"/>
                </a:solidFill>
              </a:rPr>
              <a:t>GlySim: Modeling and Simulating Glycemic Response for Behavioral Lifestyle Interventions</a:t>
            </a:r>
            <a:endParaRPr sz="7400" b="1" i="0" u="none" strike="noStrike" cap="none">
              <a:solidFill>
                <a:schemeClr val="dk2"/>
              </a:solidFill>
              <a:latin typeface="Arial"/>
              <a:ea typeface="Arial"/>
              <a:cs typeface="Arial"/>
              <a:sym typeface="Arial"/>
            </a:endParaRPr>
          </a:p>
        </p:txBody>
      </p:sp>
      <p:sp>
        <p:nvSpPr>
          <p:cNvPr id="25" name="Google Shape;25;p1"/>
          <p:cNvSpPr/>
          <p:nvPr/>
        </p:nvSpPr>
        <p:spPr>
          <a:xfrm>
            <a:off x="32842200" y="26908125"/>
            <a:ext cx="9906000" cy="2276400"/>
          </a:xfrm>
          <a:prstGeom prst="rect">
            <a:avLst/>
          </a:prstGeom>
          <a:solidFill>
            <a:schemeClr val="lt1"/>
          </a:solidFill>
          <a:ln>
            <a:noFill/>
          </a:ln>
        </p:spPr>
        <p:txBody>
          <a:bodyPr spcFirstLastPara="1" wrap="square" lIns="360000" tIns="360000" rIns="360000" bIns="360000" anchor="t" anchorCtr="0">
            <a:noAutofit/>
          </a:bodyPr>
          <a:lstStyle/>
          <a:p>
            <a:pPr marL="0" marR="0" lvl="0" indent="0" algn="l" rtl="0">
              <a:spcBef>
                <a:spcPts val="0"/>
              </a:spcBef>
              <a:spcAft>
                <a:spcPts val="0"/>
              </a:spcAft>
              <a:buNone/>
            </a:pPr>
            <a:r>
              <a:rPr lang="en-US" sz="4000" b="1" i="0" u="sng" strike="noStrike" cap="none">
                <a:solidFill>
                  <a:schemeClr val="dk2"/>
                </a:solidFill>
                <a:latin typeface="Arial"/>
                <a:ea typeface="Arial"/>
                <a:cs typeface="Arial"/>
                <a:sym typeface="Arial"/>
              </a:rPr>
              <a:t>ACKNOWLEDGEMENTS</a:t>
            </a:r>
            <a:endParaRPr sz="4000" b="1" i="0" u="none" strike="noStrike" cap="none">
              <a:solidFill>
                <a:srgbClr val="CC3300"/>
              </a:solidFill>
              <a:latin typeface="Arial"/>
              <a:ea typeface="Arial"/>
              <a:cs typeface="Arial"/>
              <a:sym typeface="Arial"/>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US" sz="2800">
                <a:solidFill>
                  <a:schemeClr val="dk1"/>
                </a:solidFill>
              </a:rPr>
              <a:t>This work was supported in part by the National Science Foundation, under grant CNS-2210133. </a:t>
            </a:r>
            <a:endParaRPr sz="2800">
              <a:solidFill>
                <a:schemeClr val="dk1"/>
              </a:solidFill>
              <a:latin typeface="Arial"/>
              <a:ea typeface="Arial"/>
              <a:cs typeface="Arial"/>
              <a:sym typeface="Arial"/>
            </a:endParaRPr>
          </a:p>
        </p:txBody>
      </p:sp>
      <p:sp>
        <p:nvSpPr>
          <p:cNvPr id="26" name="Google Shape;26;p1"/>
          <p:cNvSpPr/>
          <p:nvPr/>
        </p:nvSpPr>
        <p:spPr>
          <a:xfrm>
            <a:off x="1143000" y="4876800"/>
            <a:ext cx="9829800" cy="7237200"/>
          </a:xfrm>
          <a:prstGeom prst="rect">
            <a:avLst/>
          </a:prstGeom>
          <a:solidFill>
            <a:schemeClr val="lt1"/>
          </a:solidFill>
          <a:ln>
            <a:noFill/>
          </a:ln>
        </p:spPr>
        <p:txBody>
          <a:bodyPr spcFirstLastPara="1" wrap="square" lIns="360000" tIns="360000" rIns="360000" bIns="360000" anchor="t" anchorCtr="0">
            <a:noAutofit/>
          </a:bodyPr>
          <a:lstStyle/>
          <a:p>
            <a:pPr marL="0" marR="0" lvl="0" indent="0" algn="l" rtl="0">
              <a:spcBef>
                <a:spcPts val="0"/>
              </a:spcBef>
              <a:spcAft>
                <a:spcPts val="0"/>
              </a:spcAft>
              <a:buNone/>
            </a:pPr>
            <a:r>
              <a:rPr lang="en-US" sz="4000" b="1" u="sng" dirty="0">
                <a:solidFill>
                  <a:schemeClr val="dk2"/>
                </a:solidFill>
                <a:latin typeface="Arial"/>
                <a:ea typeface="Arial"/>
                <a:cs typeface="Arial"/>
                <a:sym typeface="Arial"/>
              </a:rPr>
              <a:t>INTRODUCTION</a:t>
            </a:r>
            <a:endParaRPr dirty="0"/>
          </a:p>
          <a:p>
            <a:pPr marL="0" marR="0" lvl="0" indent="0" algn="l" rtl="0">
              <a:spcBef>
                <a:spcPts val="0"/>
              </a:spcBef>
              <a:spcAft>
                <a:spcPts val="0"/>
              </a:spcAft>
              <a:buNone/>
            </a:pPr>
            <a:endParaRPr sz="1200" dirty="0">
              <a:solidFill>
                <a:schemeClr val="dk1"/>
              </a:solidFill>
              <a:latin typeface="Arial"/>
              <a:ea typeface="Arial"/>
              <a:cs typeface="Arial"/>
              <a:sym typeface="Arial"/>
            </a:endParaRPr>
          </a:p>
          <a:p>
            <a:pPr marL="0" marR="0" lvl="0" indent="0" algn="just" rtl="0">
              <a:spcBef>
                <a:spcPts val="0"/>
              </a:spcBef>
              <a:spcAft>
                <a:spcPts val="0"/>
              </a:spcAft>
              <a:buNone/>
            </a:pPr>
            <a:r>
              <a:rPr lang="en-US" sz="2800" dirty="0">
                <a:solidFill>
                  <a:schemeClr val="dk1"/>
                </a:solidFill>
              </a:rPr>
              <a:t>Although Continuous Glucose Monitors (CGMs) are excellent tools for visualizing blood glucose levels, their computation ability is limited. CGMs cannot be used for interventions in advance to prevent abnormal events like hyperglycemia or hypoglycemia. We propose </a:t>
            </a:r>
            <a:r>
              <a:rPr lang="en-US" sz="2800" i="1" dirty="0" err="1">
                <a:solidFill>
                  <a:schemeClr val="dk1"/>
                </a:solidFill>
              </a:rPr>
              <a:t>GlySim</a:t>
            </a:r>
            <a:r>
              <a:rPr lang="en-US" sz="2800" dirty="0">
                <a:solidFill>
                  <a:schemeClr val="dk1"/>
                </a:solidFill>
              </a:rPr>
              <a:t>, an AI-driven algorithm that forecasts future blood glucose level and provides suggestions for behavioral modification if a </a:t>
            </a:r>
            <a:r>
              <a:rPr lang="en-US" sz="2800" dirty="0" err="1">
                <a:solidFill>
                  <a:schemeClr val="dk1"/>
                </a:solidFill>
              </a:rPr>
              <a:t>dysglycemic</a:t>
            </a:r>
            <a:r>
              <a:rPr lang="en-US" sz="2800" dirty="0">
                <a:solidFill>
                  <a:schemeClr val="dk1"/>
                </a:solidFill>
              </a:rPr>
              <a:t> event is imminent, allowing users to avoid </a:t>
            </a:r>
            <a:r>
              <a:rPr lang="en-US" sz="2800" dirty="0" err="1">
                <a:solidFill>
                  <a:schemeClr val="dk1"/>
                </a:solidFill>
              </a:rPr>
              <a:t>dysglycemia</a:t>
            </a:r>
            <a:r>
              <a:rPr lang="en-US" sz="2800" dirty="0">
                <a:solidFill>
                  <a:schemeClr val="dk1"/>
                </a:solidFill>
              </a:rPr>
              <a:t>.</a:t>
            </a:r>
            <a:endParaRPr sz="2800" dirty="0">
              <a:solidFill>
                <a:schemeClr val="dk1"/>
              </a:solidFill>
            </a:endParaRPr>
          </a:p>
          <a:p>
            <a:pPr marL="0" marR="0" lvl="0" indent="0" algn="just" rtl="0">
              <a:spcBef>
                <a:spcPts val="0"/>
              </a:spcBef>
              <a:spcAft>
                <a:spcPts val="0"/>
              </a:spcAft>
              <a:buNone/>
            </a:pPr>
            <a:endParaRPr sz="2800" dirty="0">
              <a:solidFill>
                <a:schemeClr val="dk1"/>
              </a:solidFill>
            </a:endParaRPr>
          </a:p>
          <a:p>
            <a:pPr marL="0" marR="0" lvl="0" indent="0" algn="just" rtl="0">
              <a:spcBef>
                <a:spcPts val="0"/>
              </a:spcBef>
              <a:spcAft>
                <a:spcPts val="0"/>
              </a:spcAft>
              <a:buNone/>
            </a:pPr>
            <a:r>
              <a:rPr lang="en-US" sz="2800" dirty="0" err="1">
                <a:solidFill>
                  <a:schemeClr val="dk1"/>
                </a:solidFill>
              </a:rPr>
              <a:t>GlySim</a:t>
            </a:r>
            <a:r>
              <a:rPr lang="en-US" sz="2800" dirty="0">
                <a:solidFill>
                  <a:schemeClr val="dk1"/>
                </a:solidFill>
              </a:rPr>
              <a:t> achieves a small forecasting error (MAE) as low as 9.9 mg/dL and can detect </a:t>
            </a:r>
            <a:r>
              <a:rPr lang="en-US" sz="2800" dirty="0" err="1">
                <a:solidFill>
                  <a:schemeClr val="dk1"/>
                </a:solidFill>
              </a:rPr>
              <a:t>dysglycemic</a:t>
            </a:r>
            <a:r>
              <a:rPr lang="en-US" sz="2800" dirty="0">
                <a:solidFill>
                  <a:schemeClr val="dk1"/>
                </a:solidFill>
              </a:rPr>
              <a:t> events with an 89% accuracy rate.</a:t>
            </a:r>
            <a:endParaRPr sz="2800" dirty="0">
              <a:solidFill>
                <a:schemeClr val="dk1"/>
              </a:solidFill>
            </a:endParaRPr>
          </a:p>
        </p:txBody>
      </p:sp>
      <p:sp>
        <p:nvSpPr>
          <p:cNvPr id="27" name="Google Shape;27;p1"/>
          <p:cNvSpPr/>
          <p:nvPr/>
        </p:nvSpPr>
        <p:spPr>
          <a:xfrm>
            <a:off x="1143000" y="12553800"/>
            <a:ext cx="18965400" cy="17878500"/>
          </a:xfrm>
          <a:prstGeom prst="rect">
            <a:avLst/>
          </a:prstGeom>
          <a:solidFill>
            <a:schemeClr val="lt1"/>
          </a:solidFill>
          <a:ln>
            <a:noFill/>
          </a:ln>
        </p:spPr>
        <p:txBody>
          <a:bodyPr spcFirstLastPara="1" wrap="square" lIns="360000" tIns="360000" rIns="360000" bIns="360000" anchor="t" anchorCtr="0">
            <a:noAutofit/>
          </a:bodyPr>
          <a:lstStyle/>
          <a:p>
            <a:pPr marL="381000" marR="0" lvl="0" indent="-381000" algn="l" rtl="0">
              <a:spcBef>
                <a:spcPts val="0"/>
              </a:spcBef>
              <a:spcAft>
                <a:spcPts val="0"/>
              </a:spcAft>
              <a:buNone/>
            </a:pPr>
            <a:r>
              <a:rPr lang="en-US" sz="4000" b="1" u="sng" dirty="0">
                <a:solidFill>
                  <a:schemeClr val="dk2"/>
                </a:solidFill>
                <a:latin typeface="Arial"/>
                <a:ea typeface="Arial"/>
                <a:cs typeface="Arial"/>
                <a:sym typeface="Arial"/>
              </a:rPr>
              <a:t>METHOD</a:t>
            </a:r>
            <a:endParaRPr sz="4000" b="1" dirty="0">
              <a:solidFill>
                <a:srgbClr val="CC3300"/>
              </a:solidFill>
              <a:latin typeface="Arial"/>
              <a:ea typeface="Arial"/>
              <a:cs typeface="Arial"/>
              <a:sym typeface="Arial"/>
            </a:endParaRPr>
          </a:p>
          <a:p>
            <a:pPr marL="381000" marR="0" lvl="0" indent="-381000" algn="l" rtl="0">
              <a:spcBef>
                <a:spcPts val="0"/>
              </a:spcBef>
              <a:spcAft>
                <a:spcPts val="0"/>
              </a:spcAft>
              <a:buNone/>
            </a:pPr>
            <a:endParaRPr sz="1200" b="1" dirty="0">
              <a:solidFill>
                <a:schemeClr val="dk1"/>
              </a:solidFill>
              <a:latin typeface="Arial"/>
              <a:ea typeface="Arial"/>
              <a:cs typeface="Arial"/>
              <a:sym typeface="Arial"/>
            </a:endParaRPr>
          </a:p>
          <a:p>
            <a:pPr marL="381000" marR="0" lvl="0" indent="-381000" algn="l" rtl="0">
              <a:spcBef>
                <a:spcPts val="0"/>
              </a:spcBef>
              <a:spcAft>
                <a:spcPts val="0"/>
              </a:spcAft>
              <a:buNone/>
            </a:pPr>
            <a:r>
              <a:rPr lang="en-US" sz="2800" b="1" dirty="0">
                <a:solidFill>
                  <a:schemeClr val="dk1"/>
                </a:solidFill>
              </a:rPr>
              <a:t>Design a Deep learning based forecasting model </a:t>
            </a:r>
            <a:endParaRPr dirty="0"/>
          </a:p>
          <a:p>
            <a:pPr marL="381000" marR="0" lvl="0" indent="-381000" algn="l" rtl="0">
              <a:spcBef>
                <a:spcPts val="0"/>
              </a:spcBef>
              <a:spcAft>
                <a:spcPts val="0"/>
              </a:spcAft>
              <a:buNone/>
            </a:pPr>
            <a:r>
              <a:rPr lang="en-US" sz="2800" dirty="0">
                <a:solidFill>
                  <a:schemeClr val="dk1"/>
                </a:solidFill>
                <a:latin typeface="Arial"/>
                <a:ea typeface="Arial"/>
                <a:cs typeface="Arial"/>
                <a:sym typeface="Arial"/>
              </a:rPr>
              <a:t>• </a:t>
            </a:r>
            <a:r>
              <a:rPr lang="en-US" sz="2800" dirty="0">
                <a:solidFill>
                  <a:schemeClr val="dk1"/>
                </a:solidFill>
              </a:rPr>
              <a:t>1 convolution layer</a:t>
            </a:r>
            <a:endParaRPr dirty="0"/>
          </a:p>
          <a:p>
            <a:pPr marL="381000" marR="0" lvl="0" indent="-381000" algn="l" rtl="0">
              <a:spcBef>
                <a:spcPts val="0"/>
              </a:spcBef>
              <a:spcAft>
                <a:spcPts val="0"/>
              </a:spcAft>
              <a:buNone/>
            </a:pPr>
            <a:r>
              <a:rPr lang="en-US" sz="2800" dirty="0">
                <a:solidFill>
                  <a:schemeClr val="dk1"/>
                </a:solidFill>
                <a:latin typeface="Arial"/>
                <a:ea typeface="Arial"/>
                <a:cs typeface="Arial"/>
                <a:sym typeface="Arial"/>
              </a:rPr>
              <a:t>• </a:t>
            </a:r>
            <a:r>
              <a:rPr lang="en-US" sz="2800" dirty="0">
                <a:solidFill>
                  <a:schemeClr val="dk1"/>
                </a:solidFill>
              </a:rPr>
              <a:t>2 LSTM layer</a:t>
            </a:r>
            <a:endParaRPr sz="2800" dirty="0">
              <a:solidFill>
                <a:schemeClr val="dk1"/>
              </a:solidFill>
            </a:endParaRPr>
          </a:p>
          <a:p>
            <a:pPr marL="381000" lvl="0" indent="-381000" algn="l" rtl="0">
              <a:spcBef>
                <a:spcPts val="0"/>
              </a:spcBef>
              <a:spcAft>
                <a:spcPts val="0"/>
              </a:spcAft>
              <a:buNone/>
            </a:pPr>
            <a:r>
              <a:rPr lang="en-US" sz="2800" dirty="0">
                <a:solidFill>
                  <a:schemeClr val="dk1"/>
                </a:solidFill>
              </a:rPr>
              <a:t>• Design includes a multi-task learning network with different prediction horizon for result comparison</a:t>
            </a:r>
            <a:endParaRPr sz="2800" dirty="0">
              <a:solidFill>
                <a:schemeClr val="dk1"/>
              </a:solidFill>
            </a:endParaRPr>
          </a:p>
          <a:p>
            <a:pPr marL="381000" lvl="0" indent="-381000" algn="l" rtl="0">
              <a:spcBef>
                <a:spcPts val="0"/>
              </a:spcBef>
              <a:spcAft>
                <a:spcPts val="0"/>
              </a:spcAft>
              <a:buNone/>
            </a:pPr>
            <a:endParaRPr sz="2800" dirty="0">
              <a:solidFill>
                <a:schemeClr val="dk1"/>
              </a:solidFill>
            </a:endParaRPr>
          </a:p>
          <a:p>
            <a:pPr marL="0" marR="0" lvl="0" indent="0" algn="just" rtl="0">
              <a:spcBef>
                <a:spcPts val="0"/>
              </a:spcBef>
              <a:spcAft>
                <a:spcPts val="0"/>
              </a:spcAft>
              <a:buNone/>
            </a:pPr>
            <a:r>
              <a:rPr lang="en-US" sz="2800" dirty="0">
                <a:solidFill>
                  <a:schemeClr val="dk1"/>
                </a:solidFill>
              </a:rPr>
              <a:t>The Neural Network works on multimodal timeseries data with a specific input horizon and forecasts blood glucose levels for a specific output horizon. The neural network is a function </a:t>
            </a:r>
            <a:r>
              <a:rPr lang="en-US" sz="2800" b="1" i="1" dirty="0">
                <a:solidFill>
                  <a:schemeClr val="dk1"/>
                </a:solidFill>
              </a:rPr>
              <a:t>f</a:t>
            </a:r>
            <a:r>
              <a:rPr lang="en-US" sz="2800" dirty="0">
                <a:solidFill>
                  <a:schemeClr val="dk1"/>
                </a:solidFill>
              </a:rPr>
              <a:t> that maps the </a:t>
            </a:r>
            <a:r>
              <a:rPr lang="en-US" sz="2800" b="1" i="1" dirty="0">
                <a:solidFill>
                  <a:schemeClr val="dk1"/>
                </a:solidFill>
              </a:rPr>
              <a:t>d</a:t>
            </a:r>
            <a:r>
              <a:rPr lang="en-US" sz="2800" dirty="0">
                <a:solidFill>
                  <a:schemeClr val="dk1"/>
                </a:solidFill>
              </a:rPr>
              <a:t> dimensional input features </a:t>
            </a:r>
            <a:r>
              <a:rPr lang="en-US" sz="2800" b="1" i="1" dirty="0">
                <a:solidFill>
                  <a:schemeClr val="dk1"/>
                </a:solidFill>
              </a:rPr>
              <a:t>X</a:t>
            </a:r>
            <a:r>
              <a:rPr lang="en-US" sz="2800" dirty="0">
                <a:solidFill>
                  <a:schemeClr val="dk1"/>
                </a:solidFill>
              </a:rPr>
              <a:t> of length </a:t>
            </a:r>
            <a:r>
              <a:rPr lang="en-US" sz="2800" b="1" i="1" dirty="0">
                <a:solidFill>
                  <a:schemeClr val="dk1"/>
                </a:solidFill>
              </a:rPr>
              <a:t>t</a:t>
            </a:r>
            <a:r>
              <a:rPr lang="en-US" sz="2800" dirty="0">
                <a:solidFill>
                  <a:schemeClr val="dk1"/>
                </a:solidFill>
              </a:rPr>
              <a:t> to the predicted blood glucose levels </a:t>
            </a:r>
            <a:r>
              <a:rPr lang="en-US" sz="2800" b="1" i="1" dirty="0">
                <a:solidFill>
                  <a:schemeClr val="dk1"/>
                </a:solidFill>
              </a:rPr>
              <a:t>Y </a:t>
            </a:r>
            <a:r>
              <a:rPr lang="en-US" sz="2800" dirty="0">
                <a:solidFill>
                  <a:schemeClr val="dk1"/>
                </a:solidFill>
              </a:rPr>
              <a:t>of length </a:t>
            </a:r>
            <a:r>
              <a:rPr lang="en-US" sz="2800" b="1" i="1" dirty="0">
                <a:solidFill>
                  <a:schemeClr val="dk1"/>
                </a:solidFill>
              </a:rPr>
              <a:t>n</a:t>
            </a:r>
            <a:r>
              <a:rPr lang="en-US" sz="2800" dirty="0">
                <a:solidFill>
                  <a:schemeClr val="dk1"/>
                </a:solidFill>
              </a:rPr>
              <a:t>.</a:t>
            </a:r>
            <a:endParaRPr sz="2800" dirty="0">
              <a:solidFill>
                <a:schemeClr val="dk1"/>
              </a:solidFill>
            </a:endParaRPr>
          </a:p>
          <a:p>
            <a:pPr marL="0" marR="0" lvl="0" indent="0" algn="l" rtl="0">
              <a:spcBef>
                <a:spcPts val="0"/>
              </a:spcBef>
              <a:spcAft>
                <a:spcPts val="0"/>
              </a:spcAft>
              <a:buNone/>
            </a:pPr>
            <a:endParaRPr sz="2800" dirty="0">
              <a:solidFill>
                <a:schemeClr val="dk1"/>
              </a:solidFill>
            </a:endParaRPr>
          </a:p>
          <a:p>
            <a:pPr marL="0" marR="0" lvl="0" indent="0" algn="l" rtl="0">
              <a:spcBef>
                <a:spcPts val="0"/>
              </a:spcBef>
              <a:spcAft>
                <a:spcPts val="0"/>
              </a:spcAft>
              <a:buNone/>
            </a:pPr>
            <a:endParaRPr sz="2800" dirty="0">
              <a:solidFill>
                <a:schemeClr val="dk1"/>
              </a:solidFill>
            </a:endParaRPr>
          </a:p>
          <a:p>
            <a:pPr marL="0" marR="0" lvl="0" indent="0" algn="l" rtl="0">
              <a:spcBef>
                <a:spcPts val="0"/>
              </a:spcBef>
              <a:spcAft>
                <a:spcPts val="0"/>
              </a:spcAft>
              <a:buNone/>
            </a:pPr>
            <a:endParaRPr sz="2800" dirty="0">
              <a:solidFill>
                <a:schemeClr val="dk1"/>
              </a:solidFill>
            </a:endParaRPr>
          </a:p>
          <a:p>
            <a:pPr marL="0" marR="0" lvl="0" indent="0" algn="l" rtl="0">
              <a:spcBef>
                <a:spcPts val="0"/>
              </a:spcBef>
              <a:spcAft>
                <a:spcPts val="0"/>
              </a:spcAft>
              <a:buNone/>
            </a:pPr>
            <a:endParaRPr sz="2800" dirty="0">
              <a:solidFill>
                <a:schemeClr val="dk1"/>
              </a:solidFill>
            </a:endParaRPr>
          </a:p>
          <a:p>
            <a:pPr marL="0" marR="0" lvl="0" indent="0" algn="l" rtl="0">
              <a:spcBef>
                <a:spcPts val="0"/>
              </a:spcBef>
              <a:spcAft>
                <a:spcPts val="0"/>
              </a:spcAft>
              <a:buNone/>
            </a:pPr>
            <a:endParaRPr sz="2800" dirty="0">
              <a:solidFill>
                <a:schemeClr val="dk1"/>
              </a:solidFill>
            </a:endParaRPr>
          </a:p>
          <a:p>
            <a:pPr marL="0" marR="0" lvl="0" indent="0" algn="l" rtl="0">
              <a:spcBef>
                <a:spcPts val="0"/>
              </a:spcBef>
              <a:spcAft>
                <a:spcPts val="0"/>
              </a:spcAft>
              <a:buNone/>
            </a:pPr>
            <a:endParaRPr sz="2800" dirty="0">
              <a:solidFill>
                <a:schemeClr val="dk1"/>
              </a:solidFill>
            </a:endParaRPr>
          </a:p>
          <a:p>
            <a:pPr marL="0" marR="0" lvl="0" indent="0" algn="l" rtl="0">
              <a:spcBef>
                <a:spcPts val="0"/>
              </a:spcBef>
              <a:spcAft>
                <a:spcPts val="0"/>
              </a:spcAft>
              <a:buNone/>
            </a:pPr>
            <a:endParaRPr sz="2800" dirty="0">
              <a:solidFill>
                <a:schemeClr val="dk1"/>
              </a:solidFill>
            </a:endParaRPr>
          </a:p>
          <a:p>
            <a:pPr marL="0" marR="0" lvl="0" indent="0" algn="l" rtl="0">
              <a:spcBef>
                <a:spcPts val="0"/>
              </a:spcBef>
              <a:spcAft>
                <a:spcPts val="0"/>
              </a:spcAft>
              <a:buNone/>
            </a:pPr>
            <a:endParaRPr sz="2800" dirty="0">
              <a:solidFill>
                <a:schemeClr val="dk1"/>
              </a:solidFill>
            </a:endParaRPr>
          </a:p>
          <a:p>
            <a:pPr marL="0" marR="0" lvl="0" indent="0" algn="l" rtl="0">
              <a:spcBef>
                <a:spcPts val="0"/>
              </a:spcBef>
              <a:spcAft>
                <a:spcPts val="0"/>
              </a:spcAft>
              <a:buNone/>
            </a:pPr>
            <a:endParaRPr sz="2800" dirty="0">
              <a:solidFill>
                <a:schemeClr val="dk1"/>
              </a:solidFill>
            </a:endParaRPr>
          </a:p>
          <a:p>
            <a:pPr marL="0" marR="0" lvl="0" indent="0" algn="l" rtl="0">
              <a:spcBef>
                <a:spcPts val="0"/>
              </a:spcBef>
              <a:spcAft>
                <a:spcPts val="0"/>
              </a:spcAft>
              <a:buNone/>
            </a:pPr>
            <a:endParaRPr sz="2800" dirty="0">
              <a:solidFill>
                <a:schemeClr val="dk1"/>
              </a:solidFill>
            </a:endParaRPr>
          </a:p>
          <a:p>
            <a:pPr marL="0" marR="0" lvl="0" indent="0" algn="l" rtl="0">
              <a:spcBef>
                <a:spcPts val="0"/>
              </a:spcBef>
              <a:spcAft>
                <a:spcPts val="0"/>
              </a:spcAft>
              <a:buNone/>
            </a:pPr>
            <a:endParaRPr sz="2800" dirty="0">
              <a:solidFill>
                <a:schemeClr val="dk1"/>
              </a:solidFill>
            </a:endParaRPr>
          </a:p>
          <a:p>
            <a:pPr marL="0" marR="0" lvl="0" indent="0" algn="l" rtl="0">
              <a:spcBef>
                <a:spcPts val="0"/>
              </a:spcBef>
              <a:spcAft>
                <a:spcPts val="0"/>
              </a:spcAft>
              <a:buNone/>
            </a:pPr>
            <a:endParaRPr sz="2800" dirty="0">
              <a:solidFill>
                <a:schemeClr val="dk1"/>
              </a:solidFill>
            </a:endParaRPr>
          </a:p>
          <a:p>
            <a:pPr marL="0" marR="0" lvl="0" indent="0" algn="l" rtl="0">
              <a:spcBef>
                <a:spcPts val="0"/>
              </a:spcBef>
              <a:spcAft>
                <a:spcPts val="0"/>
              </a:spcAft>
              <a:buNone/>
            </a:pPr>
            <a:endParaRPr sz="2800" dirty="0">
              <a:solidFill>
                <a:schemeClr val="dk1"/>
              </a:solidFill>
            </a:endParaRPr>
          </a:p>
          <a:p>
            <a:pPr marL="0" marR="0" lvl="0" indent="0" algn="l" rtl="0">
              <a:spcBef>
                <a:spcPts val="0"/>
              </a:spcBef>
              <a:spcAft>
                <a:spcPts val="0"/>
              </a:spcAft>
              <a:buNone/>
            </a:pPr>
            <a:endParaRPr sz="2800" dirty="0">
              <a:solidFill>
                <a:schemeClr val="dk1"/>
              </a:solidFill>
            </a:endParaRPr>
          </a:p>
          <a:p>
            <a:pPr marL="0" marR="0" lvl="0" indent="0" algn="l" rtl="0">
              <a:spcBef>
                <a:spcPts val="0"/>
              </a:spcBef>
              <a:spcAft>
                <a:spcPts val="0"/>
              </a:spcAft>
              <a:buNone/>
            </a:pPr>
            <a:endParaRPr sz="2800" dirty="0">
              <a:solidFill>
                <a:schemeClr val="dk1"/>
              </a:solidFill>
            </a:endParaRPr>
          </a:p>
          <a:p>
            <a:pPr marL="0" marR="0" lvl="0" indent="0" algn="l" rtl="0">
              <a:spcBef>
                <a:spcPts val="0"/>
              </a:spcBef>
              <a:spcAft>
                <a:spcPts val="0"/>
              </a:spcAft>
              <a:buNone/>
            </a:pPr>
            <a:endParaRPr sz="2800" dirty="0">
              <a:solidFill>
                <a:schemeClr val="dk1"/>
              </a:solidFill>
            </a:endParaRPr>
          </a:p>
          <a:p>
            <a:pPr marL="0" marR="0" lvl="0" indent="0" algn="l" rtl="0">
              <a:spcBef>
                <a:spcPts val="0"/>
              </a:spcBef>
              <a:spcAft>
                <a:spcPts val="0"/>
              </a:spcAft>
              <a:buNone/>
            </a:pPr>
            <a:endParaRPr sz="1800" dirty="0">
              <a:solidFill>
                <a:schemeClr val="dk1"/>
              </a:solidFill>
            </a:endParaRPr>
          </a:p>
          <a:p>
            <a:pPr marL="381000" lvl="0" indent="-381000" algn="l" rtl="0">
              <a:spcBef>
                <a:spcPts val="0"/>
              </a:spcBef>
              <a:spcAft>
                <a:spcPts val="0"/>
              </a:spcAft>
              <a:buNone/>
            </a:pPr>
            <a:r>
              <a:rPr lang="en-US" sz="2800" b="1" dirty="0">
                <a:solidFill>
                  <a:schemeClr val="dk1"/>
                </a:solidFill>
              </a:rPr>
              <a:t>Outlining the intervention with iterative reduction</a:t>
            </a:r>
            <a:endParaRPr sz="2800" b="1" dirty="0">
              <a:solidFill>
                <a:schemeClr val="dk1"/>
              </a:solidFill>
            </a:endParaRPr>
          </a:p>
          <a:p>
            <a:pPr marL="381000" lvl="0" indent="-381000" algn="l" rtl="0">
              <a:spcBef>
                <a:spcPts val="0"/>
              </a:spcBef>
              <a:spcAft>
                <a:spcPts val="0"/>
              </a:spcAft>
              <a:buNone/>
            </a:pPr>
            <a:endParaRPr b="1" dirty="0">
              <a:solidFill>
                <a:schemeClr val="dk1"/>
              </a:solidFill>
            </a:endParaRPr>
          </a:p>
          <a:p>
            <a:pPr marL="381000" lvl="0" indent="-381000" algn="l" rtl="0">
              <a:spcBef>
                <a:spcPts val="0"/>
              </a:spcBef>
              <a:spcAft>
                <a:spcPts val="0"/>
              </a:spcAft>
              <a:buNone/>
            </a:pPr>
            <a:r>
              <a:rPr lang="en-US" sz="2800" dirty="0">
                <a:solidFill>
                  <a:schemeClr val="dk1"/>
                </a:solidFill>
              </a:rPr>
              <a:t>• If an abnormal event is predicted, identify the most influential </a:t>
            </a:r>
            <a:endParaRPr sz="2800" dirty="0">
              <a:solidFill>
                <a:schemeClr val="dk1"/>
              </a:solidFill>
            </a:endParaRPr>
          </a:p>
          <a:p>
            <a:pPr marL="381000" lvl="0" indent="-381000" algn="l" rtl="0">
              <a:spcBef>
                <a:spcPts val="0"/>
              </a:spcBef>
              <a:spcAft>
                <a:spcPts val="0"/>
              </a:spcAft>
              <a:buNone/>
            </a:pPr>
            <a:r>
              <a:rPr lang="en-US" sz="2800" dirty="0">
                <a:solidFill>
                  <a:schemeClr val="dk1"/>
                </a:solidFill>
              </a:rPr>
              <a:t>factor (e.g. carbohydrate intake, past glucose level, insufficient </a:t>
            </a:r>
            <a:endParaRPr sz="2800" dirty="0">
              <a:solidFill>
                <a:schemeClr val="dk1"/>
              </a:solidFill>
            </a:endParaRPr>
          </a:p>
          <a:p>
            <a:pPr marL="381000" lvl="0" indent="-381000" algn="l" rtl="0">
              <a:spcBef>
                <a:spcPts val="0"/>
              </a:spcBef>
              <a:spcAft>
                <a:spcPts val="0"/>
              </a:spcAft>
              <a:buNone/>
            </a:pPr>
            <a:r>
              <a:rPr lang="en-US" sz="2800" dirty="0">
                <a:solidFill>
                  <a:schemeClr val="dk1"/>
                </a:solidFill>
              </a:rPr>
              <a:t>insulin, lack of exercise etc.) increasing the blood glucose level</a:t>
            </a:r>
            <a:endParaRPr sz="2800" dirty="0">
              <a:solidFill>
                <a:schemeClr val="dk1"/>
              </a:solidFill>
            </a:endParaRPr>
          </a:p>
          <a:p>
            <a:pPr marL="381000" lvl="0" indent="-381000" algn="l" rtl="0">
              <a:spcBef>
                <a:spcPts val="0"/>
              </a:spcBef>
              <a:spcAft>
                <a:spcPts val="0"/>
              </a:spcAft>
              <a:buNone/>
            </a:pPr>
            <a:endParaRPr sz="2800" dirty="0">
              <a:solidFill>
                <a:schemeClr val="dk1"/>
              </a:solidFill>
            </a:endParaRPr>
          </a:p>
          <a:p>
            <a:pPr marL="381000" lvl="0" indent="-381000" algn="l" rtl="0">
              <a:spcBef>
                <a:spcPts val="0"/>
              </a:spcBef>
              <a:spcAft>
                <a:spcPts val="0"/>
              </a:spcAft>
              <a:buNone/>
            </a:pPr>
            <a:r>
              <a:rPr lang="en-US" sz="2800" dirty="0">
                <a:solidFill>
                  <a:schemeClr val="dk1"/>
                </a:solidFill>
              </a:rPr>
              <a:t>• Gradient based methods like Grad CAM can be used to detect</a:t>
            </a:r>
            <a:endParaRPr sz="2800" dirty="0">
              <a:solidFill>
                <a:schemeClr val="dk1"/>
              </a:solidFill>
            </a:endParaRPr>
          </a:p>
          <a:p>
            <a:pPr marL="381000" lvl="0" indent="-381000" algn="l" rtl="0">
              <a:spcBef>
                <a:spcPts val="0"/>
              </a:spcBef>
              <a:spcAft>
                <a:spcPts val="0"/>
              </a:spcAft>
              <a:buNone/>
            </a:pPr>
            <a:r>
              <a:rPr lang="en-US" sz="2800" dirty="0">
                <a:solidFill>
                  <a:schemeClr val="dk1"/>
                </a:solidFill>
              </a:rPr>
              <a:t>the underlying factor</a:t>
            </a:r>
            <a:endParaRPr sz="2800" dirty="0">
              <a:solidFill>
                <a:schemeClr val="dk1"/>
              </a:solidFill>
            </a:endParaRPr>
          </a:p>
          <a:p>
            <a:pPr marL="381000" lvl="0" indent="-381000" algn="l" rtl="0">
              <a:spcBef>
                <a:spcPts val="0"/>
              </a:spcBef>
              <a:spcAft>
                <a:spcPts val="0"/>
              </a:spcAft>
              <a:buNone/>
            </a:pPr>
            <a:endParaRPr sz="2800" dirty="0">
              <a:solidFill>
                <a:schemeClr val="dk1"/>
              </a:solidFill>
            </a:endParaRPr>
          </a:p>
          <a:p>
            <a:pPr marL="381000" lvl="0" indent="-381000" algn="l" rtl="0">
              <a:spcBef>
                <a:spcPts val="0"/>
              </a:spcBef>
              <a:spcAft>
                <a:spcPts val="0"/>
              </a:spcAft>
              <a:buNone/>
            </a:pPr>
            <a:r>
              <a:rPr lang="en-US" sz="2800" dirty="0">
                <a:solidFill>
                  <a:schemeClr val="dk1"/>
                </a:solidFill>
              </a:rPr>
              <a:t>• Iteratively change the factor until normoglycemia is ensured</a:t>
            </a:r>
            <a:endParaRPr sz="2800" dirty="0">
              <a:solidFill>
                <a:schemeClr val="dk1"/>
              </a:solidFill>
            </a:endParaRPr>
          </a:p>
          <a:p>
            <a:pPr marL="381000" lvl="0" indent="-381000" algn="l" rtl="0">
              <a:spcBef>
                <a:spcPts val="0"/>
              </a:spcBef>
              <a:spcAft>
                <a:spcPts val="0"/>
              </a:spcAft>
              <a:buNone/>
            </a:pPr>
            <a:endParaRPr sz="2800" dirty="0">
              <a:solidFill>
                <a:schemeClr val="dk1"/>
              </a:solidFill>
            </a:endParaRPr>
          </a:p>
          <a:p>
            <a:pPr marL="381000" lvl="0" indent="-381000" algn="l" rtl="0">
              <a:spcBef>
                <a:spcPts val="0"/>
              </a:spcBef>
              <a:spcAft>
                <a:spcPts val="0"/>
              </a:spcAft>
              <a:buNone/>
            </a:pPr>
            <a:r>
              <a:rPr lang="en-US" sz="2800" dirty="0">
                <a:solidFill>
                  <a:schemeClr val="dk1"/>
                </a:solidFill>
              </a:rPr>
              <a:t>• Provide the user with optimal recommendations for achieving </a:t>
            </a:r>
            <a:endParaRPr sz="2800" dirty="0">
              <a:solidFill>
                <a:schemeClr val="dk1"/>
              </a:solidFill>
            </a:endParaRPr>
          </a:p>
          <a:p>
            <a:pPr marL="381000" lvl="0" indent="-381000" algn="l" rtl="0">
              <a:spcBef>
                <a:spcPts val="0"/>
              </a:spcBef>
              <a:spcAft>
                <a:spcPts val="0"/>
              </a:spcAft>
              <a:buNone/>
            </a:pPr>
            <a:r>
              <a:rPr lang="en-US" sz="2800" dirty="0">
                <a:solidFill>
                  <a:schemeClr val="dk1"/>
                </a:solidFill>
              </a:rPr>
              <a:t>normoglycemia</a:t>
            </a:r>
            <a:endParaRPr sz="2800" dirty="0">
              <a:solidFill>
                <a:schemeClr val="dk1"/>
              </a:solidFill>
            </a:endParaRPr>
          </a:p>
          <a:p>
            <a:pPr marL="381000" lvl="0" indent="-381000" algn="l" rtl="0">
              <a:spcBef>
                <a:spcPts val="0"/>
              </a:spcBef>
              <a:spcAft>
                <a:spcPts val="0"/>
              </a:spcAft>
              <a:buNone/>
            </a:pPr>
            <a:endParaRPr sz="2800" dirty="0">
              <a:solidFill>
                <a:schemeClr val="dk1"/>
              </a:solidFill>
            </a:endParaRPr>
          </a:p>
          <a:p>
            <a:pPr marL="0" lvl="0" indent="0" algn="l" rtl="0">
              <a:spcBef>
                <a:spcPts val="0"/>
              </a:spcBef>
              <a:spcAft>
                <a:spcPts val="0"/>
              </a:spcAft>
              <a:buClr>
                <a:schemeClr val="dk1"/>
              </a:buClr>
              <a:buFont typeface="Arial"/>
              <a:buNone/>
            </a:pPr>
            <a:endParaRPr sz="2800" b="1" dirty="0">
              <a:solidFill>
                <a:schemeClr val="dk1"/>
              </a:solidFill>
            </a:endParaRPr>
          </a:p>
          <a:p>
            <a:pPr marL="0" marR="0" lvl="0" indent="0" algn="l" rtl="0">
              <a:spcBef>
                <a:spcPts val="0"/>
              </a:spcBef>
              <a:spcAft>
                <a:spcPts val="0"/>
              </a:spcAft>
              <a:buNone/>
            </a:pPr>
            <a:endParaRPr sz="2800" dirty="0">
              <a:solidFill>
                <a:schemeClr val="dk1"/>
              </a:solidFill>
            </a:endParaRPr>
          </a:p>
        </p:txBody>
      </p:sp>
      <p:sp>
        <p:nvSpPr>
          <p:cNvPr id="28" name="Google Shape;28;p1"/>
          <p:cNvSpPr/>
          <p:nvPr/>
        </p:nvSpPr>
        <p:spPr>
          <a:xfrm>
            <a:off x="20581900" y="12553450"/>
            <a:ext cx="11735700" cy="19584600"/>
          </a:xfrm>
          <a:prstGeom prst="rect">
            <a:avLst/>
          </a:prstGeom>
          <a:solidFill>
            <a:schemeClr val="lt1"/>
          </a:solidFill>
          <a:ln>
            <a:noFill/>
          </a:ln>
        </p:spPr>
        <p:txBody>
          <a:bodyPr spcFirstLastPara="1" wrap="square" lIns="360000" tIns="360000" rIns="360000" bIns="360000" anchor="t" anchorCtr="0">
            <a:noAutofit/>
          </a:bodyPr>
          <a:lstStyle/>
          <a:p>
            <a:pPr marL="0" marR="0" lvl="0" indent="0" algn="l" rtl="0">
              <a:spcBef>
                <a:spcPts val="0"/>
              </a:spcBef>
              <a:spcAft>
                <a:spcPts val="0"/>
              </a:spcAft>
              <a:buNone/>
            </a:pPr>
            <a:r>
              <a:rPr lang="en-US" sz="4000" b="1" u="sng">
                <a:solidFill>
                  <a:schemeClr val="dk2"/>
                </a:solidFill>
                <a:latin typeface="Arial"/>
                <a:ea typeface="Arial"/>
                <a:cs typeface="Arial"/>
                <a:sym typeface="Arial"/>
              </a:rPr>
              <a:t>RESULTS</a:t>
            </a:r>
            <a:endParaRPr sz="4000" b="1">
              <a:solidFill>
                <a:srgbClr val="CC3300"/>
              </a:solidFill>
            </a:endParaRPr>
          </a:p>
          <a:p>
            <a:pPr marL="0" marR="0" lvl="0" indent="0" algn="l" rtl="0">
              <a:spcBef>
                <a:spcPts val="0"/>
              </a:spcBef>
              <a:spcAft>
                <a:spcPts val="0"/>
              </a:spcAft>
              <a:buNone/>
            </a:pPr>
            <a:endParaRPr sz="1200" b="1">
              <a:solidFill>
                <a:srgbClr val="CC3300"/>
              </a:solidFill>
            </a:endParaRPr>
          </a:p>
          <a:p>
            <a:pPr marL="0" marR="0" lvl="0" indent="0" algn="l" rtl="0">
              <a:spcBef>
                <a:spcPts val="0"/>
              </a:spcBef>
              <a:spcAft>
                <a:spcPts val="0"/>
              </a:spcAft>
              <a:buNone/>
            </a:pPr>
            <a:r>
              <a:rPr lang="en-US" sz="2800" b="1">
                <a:solidFill>
                  <a:schemeClr val="dk1"/>
                </a:solidFill>
              </a:rPr>
              <a:t>Forecasting</a:t>
            </a:r>
            <a:endParaRPr sz="2800">
              <a:solidFill>
                <a:schemeClr val="dk1"/>
              </a:solidFill>
            </a:endParaRPr>
          </a:p>
          <a:p>
            <a:pPr marL="457200" marR="0" lvl="0" indent="-406400" algn="l" rtl="0">
              <a:spcBef>
                <a:spcPts val="0"/>
              </a:spcBef>
              <a:spcAft>
                <a:spcPts val="0"/>
              </a:spcAft>
              <a:buClr>
                <a:schemeClr val="dk1"/>
              </a:buClr>
              <a:buSzPts val="2800"/>
              <a:buChar char="●"/>
            </a:pPr>
            <a:r>
              <a:rPr lang="en-US" sz="2800">
                <a:solidFill>
                  <a:schemeClr val="dk1"/>
                </a:solidFill>
              </a:rPr>
              <a:t>Mean-absolute-error to predict glucose level was 9.9 to 18.6 mg/dL (for 60 minute forecast horizon)</a:t>
            </a:r>
            <a:endParaRPr sz="2800">
              <a:solidFill>
                <a:schemeClr val="dk1"/>
              </a:solidFill>
            </a:endParaRPr>
          </a:p>
          <a:p>
            <a:pPr marL="457200" marR="0" lvl="0" indent="-406400" algn="l" rtl="0">
              <a:spcBef>
                <a:spcPts val="0"/>
              </a:spcBef>
              <a:spcAft>
                <a:spcPts val="0"/>
              </a:spcAft>
              <a:buClr>
                <a:schemeClr val="dk1"/>
              </a:buClr>
              <a:buSzPts val="2800"/>
              <a:buChar char="●"/>
            </a:pPr>
            <a:r>
              <a:rPr lang="en-US" sz="2800">
                <a:solidFill>
                  <a:schemeClr val="dk1"/>
                </a:solidFill>
              </a:rPr>
              <a:t>Results were better for shorter horizons</a:t>
            </a:r>
            <a:endParaRPr sz="2800">
              <a:solidFill>
                <a:schemeClr val="dk1"/>
              </a:solidFill>
            </a:endParaRPr>
          </a:p>
          <a:p>
            <a:pPr marL="0" marR="0" lvl="0" indent="0" algn="l" rtl="0">
              <a:spcBef>
                <a:spcPts val="0"/>
              </a:spcBef>
              <a:spcAft>
                <a:spcPts val="0"/>
              </a:spcAft>
              <a:buNone/>
            </a:pPr>
            <a:endParaRPr sz="4000" b="1">
              <a:solidFill>
                <a:srgbClr val="CC3300"/>
              </a:solidFill>
            </a:endParaRPr>
          </a:p>
          <a:p>
            <a:pPr marL="0" marR="0" lvl="0" indent="0" algn="l" rtl="0">
              <a:spcBef>
                <a:spcPts val="0"/>
              </a:spcBef>
              <a:spcAft>
                <a:spcPts val="0"/>
              </a:spcAft>
              <a:buNone/>
            </a:pPr>
            <a:endParaRPr sz="4000" b="1">
              <a:solidFill>
                <a:srgbClr val="CC3300"/>
              </a:solidFill>
            </a:endParaRPr>
          </a:p>
          <a:p>
            <a:pPr marL="0" marR="0" lvl="0" indent="0" algn="l" rtl="0">
              <a:spcBef>
                <a:spcPts val="0"/>
              </a:spcBef>
              <a:spcAft>
                <a:spcPts val="0"/>
              </a:spcAft>
              <a:buNone/>
            </a:pPr>
            <a:endParaRPr sz="4000" b="1">
              <a:solidFill>
                <a:srgbClr val="CC3300"/>
              </a:solidFill>
            </a:endParaRPr>
          </a:p>
          <a:p>
            <a:pPr marL="0" marR="0" lvl="0" indent="0" algn="l" rtl="0">
              <a:spcBef>
                <a:spcPts val="0"/>
              </a:spcBef>
              <a:spcAft>
                <a:spcPts val="0"/>
              </a:spcAft>
              <a:buNone/>
            </a:pPr>
            <a:endParaRPr sz="4000" b="1">
              <a:solidFill>
                <a:srgbClr val="CC3300"/>
              </a:solidFill>
            </a:endParaRPr>
          </a:p>
          <a:p>
            <a:pPr marL="0" marR="0" lvl="0" indent="0" algn="l" rtl="0">
              <a:spcBef>
                <a:spcPts val="0"/>
              </a:spcBef>
              <a:spcAft>
                <a:spcPts val="0"/>
              </a:spcAft>
              <a:buNone/>
            </a:pPr>
            <a:endParaRPr sz="4000" b="1">
              <a:solidFill>
                <a:srgbClr val="CC3300"/>
              </a:solidFill>
            </a:endParaRPr>
          </a:p>
          <a:p>
            <a:pPr marL="0" marR="0" lvl="0" indent="0" algn="l" rtl="0">
              <a:spcBef>
                <a:spcPts val="0"/>
              </a:spcBef>
              <a:spcAft>
                <a:spcPts val="0"/>
              </a:spcAft>
              <a:buNone/>
            </a:pPr>
            <a:endParaRPr sz="4000" b="1">
              <a:solidFill>
                <a:srgbClr val="CC3300"/>
              </a:solidFill>
            </a:endParaRPr>
          </a:p>
          <a:p>
            <a:pPr marL="0" marR="0" lvl="0" indent="0" algn="l" rtl="0">
              <a:spcBef>
                <a:spcPts val="0"/>
              </a:spcBef>
              <a:spcAft>
                <a:spcPts val="0"/>
              </a:spcAft>
              <a:buNone/>
            </a:pPr>
            <a:endParaRPr sz="4000" b="1">
              <a:solidFill>
                <a:srgbClr val="CC3300"/>
              </a:solidFill>
            </a:endParaRPr>
          </a:p>
          <a:p>
            <a:pPr marL="0" marR="0" lvl="0" indent="0" algn="l" rtl="0">
              <a:spcBef>
                <a:spcPts val="0"/>
              </a:spcBef>
              <a:spcAft>
                <a:spcPts val="0"/>
              </a:spcAft>
              <a:buNone/>
            </a:pPr>
            <a:endParaRPr sz="4000" b="1">
              <a:solidFill>
                <a:srgbClr val="CC3300"/>
              </a:solidFill>
            </a:endParaRPr>
          </a:p>
          <a:p>
            <a:pPr marL="0" marR="0" lvl="0" indent="0" algn="l" rtl="0">
              <a:spcBef>
                <a:spcPts val="0"/>
              </a:spcBef>
              <a:spcAft>
                <a:spcPts val="0"/>
              </a:spcAft>
              <a:buNone/>
            </a:pPr>
            <a:endParaRPr sz="4000" b="1">
              <a:solidFill>
                <a:srgbClr val="CC3300"/>
              </a:solidFill>
            </a:endParaRPr>
          </a:p>
          <a:p>
            <a:pPr marL="0" marR="0" lvl="0" indent="0" algn="l" rtl="0">
              <a:spcBef>
                <a:spcPts val="0"/>
              </a:spcBef>
              <a:spcAft>
                <a:spcPts val="0"/>
              </a:spcAft>
              <a:buNone/>
            </a:pPr>
            <a:endParaRPr sz="4000" b="1">
              <a:solidFill>
                <a:srgbClr val="CC3300"/>
              </a:solidFill>
            </a:endParaRPr>
          </a:p>
          <a:p>
            <a:pPr marL="0" marR="0" lvl="0" indent="0" algn="l" rtl="0">
              <a:spcBef>
                <a:spcPts val="0"/>
              </a:spcBef>
              <a:spcAft>
                <a:spcPts val="0"/>
              </a:spcAft>
              <a:buNone/>
            </a:pPr>
            <a:endParaRPr sz="4000" b="1">
              <a:solidFill>
                <a:srgbClr val="CC3300"/>
              </a:solidFill>
            </a:endParaRPr>
          </a:p>
          <a:p>
            <a:pPr marL="0" marR="0" lvl="0" indent="0" algn="l" rtl="0">
              <a:spcBef>
                <a:spcPts val="0"/>
              </a:spcBef>
              <a:spcAft>
                <a:spcPts val="0"/>
              </a:spcAft>
              <a:buNone/>
            </a:pPr>
            <a:endParaRPr sz="4000" b="1">
              <a:solidFill>
                <a:srgbClr val="CC3300"/>
              </a:solidFill>
            </a:endParaRPr>
          </a:p>
          <a:p>
            <a:pPr marL="0" lvl="0" indent="0" algn="l" rtl="0">
              <a:spcBef>
                <a:spcPts val="0"/>
              </a:spcBef>
              <a:spcAft>
                <a:spcPts val="0"/>
              </a:spcAft>
              <a:buNone/>
            </a:pPr>
            <a:r>
              <a:rPr lang="en-US" sz="2800" b="1">
                <a:solidFill>
                  <a:schemeClr val="dk1"/>
                </a:solidFill>
              </a:rPr>
              <a:t>Abnormal event detection</a:t>
            </a:r>
            <a:endParaRPr sz="2800" b="1">
              <a:solidFill>
                <a:schemeClr val="dk1"/>
              </a:solidFill>
            </a:endParaRPr>
          </a:p>
          <a:p>
            <a:pPr marL="457200" lvl="0" indent="-406400" algn="l" rtl="0">
              <a:spcBef>
                <a:spcPts val="0"/>
              </a:spcBef>
              <a:spcAft>
                <a:spcPts val="0"/>
              </a:spcAft>
              <a:buClr>
                <a:schemeClr val="dk1"/>
              </a:buClr>
              <a:buSzPts val="2800"/>
              <a:buChar char="●"/>
            </a:pPr>
            <a:r>
              <a:rPr lang="en-US" sz="2800">
                <a:solidFill>
                  <a:schemeClr val="dk1"/>
                </a:solidFill>
              </a:rPr>
              <a:t>Precision scores varied between 0.71 and 1 in detecting hyperglycemia</a:t>
            </a:r>
            <a:r>
              <a:rPr lang="en-US" sz="2800" b="1">
                <a:solidFill>
                  <a:schemeClr val="dk1"/>
                </a:solidFill>
              </a:rPr>
              <a:t> </a:t>
            </a:r>
            <a:endParaRPr sz="2800" b="1">
              <a:solidFill>
                <a:schemeClr val="dk1"/>
              </a:solidFill>
            </a:endParaRPr>
          </a:p>
          <a:p>
            <a:pPr marL="0" lvl="0" indent="0" algn="l" rtl="0">
              <a:spcBef>
                <a:spcPts val="0"/>
              </a:spcBef>
              <a:spcAft>
                <a:spcPts val="0"/>
              </a:spcAft>
              <a:buNone/>
            </a:pPr>
            <a:endParaRPr sz="2800" b="1">
              <a:solidFill>
                <a:schemeClr val="dk1"/>
              </a:solidFill>
            </a:endParaRPr>
          </a:p>
          <a:p>
            <a:pPr marL="0" lvl="0" indent="0" algn="l" rtl="0">
              <a:spcBef>
                <a:spcPts val="0"/>
              </a:spcBef>
              <a:spcAft>
                <a:spcPts val="0"/>
              </a:spcAft>
              <a:buNone/>
            </a:pPr>
            <a:endParaRPr sz="2800" b="1">
              <a:solidFill>
                <a:schemeClr val="dk1"/>
              </a:solidFill>
            </a:endParaRPr>
          </a:p>
          <a:p>
            <a:pPr marL="0" lvl="0" indent="0" algn="l" rtl="0">
              <a:spcBef>
                <a:spcPts val="0"/>
              </a:spcBef>
              <a:spcAft>
                <a:spcPts val="0"/>
              </a:spcAft>
              <a:buNone/>
            </a:pPr>
            <a:endParaRPr sz="2800" b="1">
              <a:solidFill>
                <a:schemeClr val="dk1"/>
              </a:solidFill>
            </a:endParaRPr>
          </a:p>
          <a:p>
            <a:pPr marL="0" lvl="0" indent="0" algn="l" rtl="0">
              <a:spcBef>
                <a:spcPts val="0"/>
              </a:spcBef>
              <a:spcAft>
                <a:spcPts val="0"/>
              </a:spcAft>
              <a:buNone/>
            </a:pPr>
            <a:endParaRPr sz="2800" b="1">
              <a:solidFill>
                <a:schemeClr val="dk1"/>
              </a:solidFill>
            </a:endParaRPr>
          </a:p>
          <a:p>
            <a:pPr marL="0" lvl="0" indent="0" algn="l" rtl="0">
              <a:spcBef>
                <a:spcPts val="0"/>
              </a:spcBef>
              <a:spcAft>
                <a:spcPts val="0"/>
              </a:spcAft>
              <a:buNone/>
            </a:pPr>
            <a:endParaRPr sz="2800" b="1">
              <a:solidFill>
                <a:schemeClr val="dk1"/>
              </a:solidFill>
            </a:endParaRPr>
          </a:p>
          <a:p>
            <a:pPr marL="0" lvl="0" indent="0" algn="l" rtl="0">
              <a:spcBef>
                <a:spcPts val="0"/>
              </a:spcBef>
              <a:spcAft>
                <a:spcPts val="0"/>
              </a:spcAft>
              <a:buNone/>
            </a:pPr>
            <a:r>
              <a:rPr lang="en-US" sz="2800" b="1">
                <a:solidFill>
                  <a:schemeClr val="dk1"/>
                </a:solidFill>
              </a:rPr>
              <a:t>Intervention</a:t>
            </a:r>
            <a:endParaRPr sz="2800" b="1">
              <a:solidFill>
                <a:schemeClr val="dk1"/>
              </a:solidFill>
            </a:endParaRPr>
          </a:p>
          <a:p>
            <a:pPr marL="457200" lvl="0" indent="-406400" algn="l" rtl="0">
              <a:spcBef>
                <a:spcPts val="0"/>
              </a:spcBef>
              <a:spcAft>
                <a:spcPts val="0"/>
              </a:spcAft>
              <a:buClr>
                <a:schemeClr val="dk1"/>
              </a:buClr>
              <a:buSzPts val="2800"/>
              <a:buChar char="●"/>
            </a:pPr>
            <a:r>
              <a:rPr lang="en-US" sz="2800">
                <a:solidFill>
                  <a:schemeClr val="dk1"/>
                </a:solidFill>
              </a:rPr>
              <a:t>Upon detection of an abnormal event, Grad-CAM pinpoints the most influential factor behind abnormality</a:t>
            </a:r>
            <a:endParaRPr sz="2800">
              <a:solidFill>
                <a:schemeClr val="dk1"/>
              </a:solidFill>
            </a:endParaRPr>
          </a:p>
        </p:txBody>
      </p:sp>
      <p:sp>
        <p:nvSpPr>
          <p:cNvPr id="29" name="Google Shape;29;p1"/>
          <p:cNvSpPr/>
          <p:nvPr/>
        </p:nvSpPr>
        <p:spPr>
          <a:xfrm>
            <a:off x="11561925" y="4876800"/>
            <a:ext cx="20755800" cy="7237200"/>
          </a:xfrm>
          <a:prstGeom prst="rect">
            <a:avLst/>
          </a:prstGeom>
          <a:solidFill>
            <a:schemeClr val="lt1"/>
          </a:solidFill>
          <a:ln>
            <a:noFill/>
          </a:ln>
        </p:spPr>
        <p:txBody>
          <a:bodyPr spcFirstLastPara="1" wrap="square" lIns="360000" tIns="360000" rIns="360000" bIns="360000" anchor="t" anchorCtr="0">
            <a:noAutofit/>
          </a:bodyPr>
          <a:lstStyle/>
          <a:p>
            <a:pPr marL="0" lvl="0" indent="0" algn="l" rtl="0">
              <a:spcBef>
                <a:spcPts val="0"/>
              </a:spcBef>
              <a:spcAft>
                <a:spcPts val="0"/>
              </a:spcAft>
              <a:buNone/>
            </a:pPr>
            <a:r>
              <a:rPr lang="en-US" sz="4000" b="1" u="sng">
                <a:solidFill>
                  <a:schemeClr val="dk2"/>
                </a:solidFill>
              </a:rPr>
              <a:t>AIMS</a:t>
            </a:r>
            <a:endParaRPr sz="4000" b="1" u="sng">
              <a:solidFill>
                <a:schemeClr val="dk2"/>
              </a:solidFill>
            </a:endParaRPr>
          </a:p>
          <a:p>
            <a:pPr marL="0" lvl="0" indent="0" algn="l" rtl="0">
              <a:spcBef>
                <a:spcPts val="0"/>
              </a:spcBef>
              <a:spcAft>
                <a:spcPts val="0"/>
              </a:spcAft>
              <a:buNone/>
            </a:pPr>
            <a:endParaRPr sz="1200" b="1" u="sng">
              <a:solidFill>
                <a:schemeClr val="dk2"/>
              </a:solidFill>
            </a:endParaRPr>
          </a:p>
          <a:p>
            <a:pPr marL="457200" lvl="0" indent="-406400" algn="l" rtl="0">
              <a:spcBef>
                <a:spcPts val="0"/>
              </a:spcBef>
              <a:spcAft>
                <a:spcPts val="0"/>
              </a:spcAft>
              <a:buClr>
                <a:schemeClr val="dk1"/>
              </a:buClr>
              <a:buSzPts val="2800"/>
              <a:buAutoNum type="arabicPeriod"/>
            </a:pPr>
            <a:r>
              <a:rPr lang="en-US" sz="2800">
                <a:solidFill>
                  <a:schemeClr val="dk1"/>
                </a:solidFill>
              </a:rPr>
              <a:t>Develop a neural network to correctly forecast future glucose readings over a prediction horizon from users’ physiological, behavioral, medication data and to identify occurrences of impending dyslycemia.</a:t>
            </a:r>
            <a:endParaRPr sz="2800">
              <a:solidFill>
                <a:schemeClr val="dk1"/>
              </a:solidFill>
            </a:endParaRPr>
          </a:p>
          <a:p>
            <a:pPr marL="457200" lvl="0" indent="-406400" algn="l" rtl="0">
              <a:spcBef>
                <a:spcPts val="0"/>
              </a:spcBef>
              <a:spcAft>
                <a:spcPts val="0"/>
              </a:spcAft>
              <a:buClr>
                <a:schemeClr val="dk1"/>
              </a:buClr>
              <a:buSzPts val="2800"/>
              <a:buAutoNum type="arabicPeriod"/>
            </a:pPr>
            <a:r>
              <a:rPr lang="en-US" sz="2800">
                <a:solidFill>
                  <a:schemeClr val="dk1"/>
                </a:solidFill>
              </a:rPr>
              <a:t>Determine the most significant behavioral factor for an increase in glycemic response by analyzing the gradients of each target prediction.</a:t>
            </a:r>
            <a:endParaRPr sz="2800">
              <a:solidFill>
                <a:schemeClr val="dk1"/>
              </a:solidFill>
            </a:endParaRPr>
          </a:p>
          <a:p>
            <a:pPr marL="457200" lvl="0" indent="-406400" algn="l" rtl="0">
              <a:spcBef>
                <a:spcPts val="0"/>
              </a:spcBef>
              <a:spcAft>
                <a:spcPts val="0"/>
              </a:spcAft>
              <a:buClr>
                <a:schemeClr val="dk1"/>
              </a:buClr>
              <a:buSzPts val="2800"/>
              <a:buAutoNum type="arabicPeriod"/>
            </a:pPr>
            <a:r>
              <a:rPr lang="en-US" sz="2800">
                <a:solidFill>
                  <a:schemeClr val="dk1"/>
                </a:solidFill>
              </a:rPr>
              <a:t>Design an intervention plan by iteratively reducing the significant factor. </a:t>
            </a:r>
            <a:endParaRPr sz="2800">
              <a:solidFill>
                <a:schemeClr val="dk1"/>
              </a:solidFill>
            </a:endParaRPr>
          </a:p>
        </p:txBody>
      </p:sp>
      <p:sp>
        <p:nvSpPr>
          <p:cNvPr id="30" name="Google Shape;30;p1"/>
          <p:cNvSpPr/>
          <p:nvPr/>
        </p:nvSpPr>
        <p:spPr>
          <a:xfrm>
            <a:off x="32842325" y="22920950"/>
            <a:ext cx="9906000" cy="3653700"/>
          </a:xfrm>
          <a:prstGeom prst="rect">
            <a:avLst/>
          </a:prstGeom>
          <a:solidFill>
            <a:schemeClr val="lt1"/>
          </a:solidFill>
          <a:ln>
            <a:noFill/>
          </a:ln>
        </p:spPr>
        <p:txBody>
          <a:bodyPr spcFirstLastPara="1" wrap="square" lIns="360000" tIns="360000" rIns="360000" bIns="360000" anchor="t" anchorCtr="0">
            <a:noAutofit/>
          </a:bodyPr>
          <a:lstStyle/>
          <a:p>
            <a:pPr marL="0" marR="0" lvl="0" indent="0" algn="l" rtl="0">
              <a:spcBef>
                <a:spcPts val="0"/>
              </a:spcBef>
              <a:spcAft>
                <a:spcPts val="0"/>
              </a:spcAft>
              <a:buNone/>
            </a:pPr>
            <a:r>
              <a:rPr lang="en-US" sz="4000" b="1" u="sng">
                <a:solidFill>
                  <a:schemeClr val="dk2"/>
                </a:solidFill>
                <a:latin typeface="Arial"/>
                <a:ea typeface="Arial"/>
                <a:cs typeface="Arial"/>
                <a:sym typeface="Arial"/>
              </a:rPr>
              <a:t>CONCLUSIONS</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just" rtl="0">
              <a:spcBef>
                <a:spcPts val="0"/>
              </a:spcBef>
              <a:spcAft>
                <a:spcPts val="0"/>
              </a:spcAft>
              <a:buNone/>
            </a:pPr>
            <a:r>
              <a:rPr lang="en-US" sz="2800">
                <a:solidFill>
                  <a:schemeClr val="dk1"/>
                </a:solidFill>
              </a:rPr>
              <a:t>Our long-term objective is to create a simulator featuring a dashboard. The generalized model is not as effective as the subject-specific models, leading to generalization issues. Part of our follow-up work includes applying transfer learning and domain adaptation techniques.</a:t>
            </a:r>
            <a:endParaRPr/>
          </a:p>
        </p:txBody>
      </p:sp>
      <p:sp>
        <p:nvSpPr>
          <p:cNvPr id="31" name="Google Shape;31;p1"/>
          <p:cNvSpPr txBox="1"/>
          <p:nvPr/>
        </p:nvSpPr>
        <p:spPr>
          <a:xfrm>
            <a:off x="12533313" y="23425725"/>
            <a:ext cx="7053600" cy="1287000"/>
          </a:xfrm>
          <a:prstGeom prst="rect">
            <a:avLst/>
          </a:prstGeom>
          <a:noFill/>
          <a:ln>
            <a:noFill/>
          </a:ln>
        </p:spPr>
        <p:txBody>
          <a:bodyPr spcFirstLastPara="1" wrap="square" lIns="180000" tIns="180000" rIns="180000" bIns="180000" anchor="t" anchorCtr="0">
            <a:spAutoFit/>
          </a:bodyPr>
          <a:lstStyle/>
          <a:p>
            <a:pPr marL="0" marR="0" lvl="0" indent="0" algn="r" rtl="0">
              <a:spcBef>
                <a:spcPts val="0"/>
              </a:spcBef>
              <a:spcAft>
                <a:spcPts val="0"/>
              </a:spcAft>
              <a:buNone/>
            </a:pPr>
            <a:r>
              <a:rPr lang="en-US" sz="2000" i="1">
                <a:solidFill>
                  <a:schemeClr val="dk1"/>
                </a:solidFill>
              </a:rPr>
              <a:t>GlySim integrates data from smartphone, smartwatch, wearable CGM and insulin pump, and devises a multi-task learning model to predict glucose response</a:t>
            </a:r>
            <a:endParaRPr sz="2000" b="0" i="1" u="none">
              <a:solidFill>
                <a:schemeClr val="dk1"/>
              </a:solidFill>
              <a:latin typeface="Arial"/>
              <a:ea typeface="Arial"/>
              <a:cs typeface="Arial"/>
              <a:sym typeface="Arial"/>
            </a:endParaRPr>
          </a:p>
        </p:txBody>
      </p:sp>
      <p:sp>
        <p:nvSpPr>
          <p:cNvPr id="32" name="Google Shape;32;p1"/>
          <p:cNvSpPr txBox="1"/>
          <p:nvPr/>
        </p:nvSpPr>
        <p:spPr>
          <a:xfrm>
            <a:off x="1670700" y="23241000"/>
            <a:ext cx="9302100" cy="671400"/>
          </a:xfrm>
          <a:prstGeom prst="rect">
            <a:avLst/>
          </a:prstGeom>
          <a:noFill/>
          <a:ln>
            <a:noFill/>
          </a:ln>
        </p:spPr>
        <p:txBody>
          <a:bodyPr spcFirstLastPara="1" wrap="square" lIns="180000" tIns="180000" rIns="180000" bIns="180000" anchor="t" anchorCtr="0">
            <a:spAutoFit/>
          </a:bodyPr>
          <a:lstStyle/>
          <a:p>
            <a:pPr marL="0" marR="0" lvl="0" indent="0" algn="l" rtl="0">
              <a:spcBef>
                <a:spcPts val="0"/>
              </a:spcBef>
              <a:spcAft>
                <a:spcPts val="0"/>
              </a:spcAft>
              <a:buNone/>
            </a:pPr>
            <a:r>
              <a:rPr lang="en-US" sz="2000" i="1">
                <a:solidFill>
                  <a:schemeClr val="dk1"/>
                </a:solidFill>
              </a:rPr>
              <a:t>Stacked CNN-LSTM architecture of GlySim.</a:t>
            </a:r>
            <a:endParaRPr sz="2000" b="0" i="1" u="none">
              <a:solidFill>
                <a:schemeClr val="dk1"/>
              </a:solidFill>
              <a:latin typeface="Arial"/>
              <a:ea typeface="Arial"/>
              <a:cs typeface="Arial"/>
              <a:sym typeface="Arial"/>
            </a:endParaRPr>
          </a:p>
        </p:txBody>
      </p:sp>
      <p:pic>
        <p:nvPicPr>
          <p:cNvPr id="33" name="Google Shape;33;p1"/>
          <p:cNvPicPr preferRelativeResize="0"/>
          <p:nvPr/>
        </p:nvPicPr>
        <p:blipFill rotWithShape="1">
          <a:blip r:embed="rId3">
            <a:alphaModFix/>
          </a:blip>
          <a:srcRect t="3436" b="3445"/>
          <a:stretch/>
        </p:blipFill>
        <p:spPr>
          <a:xfrm>
            <a:off x="14257225" y="8227650"/>
            <a:ext cx="15335801" cy="3761150"/>
          </a:xfrm>
          <a:prstGeom prst="rect">
            <a:avLst/>
          </a:prstGeom>
          <a:noFill/>
          <a:ln>
            <a:noFill/>
          </a:ln>
        </p:spPr>
      </p:pic>
      <p:sp>
        <p:nvSpPr>
          <p:cNvPr id="34" name="Google Shape;34;p1"/>
          <p:cNvSpPr/>
          <p:nvPr/>
        </p:nvSpPr>
        <p:spPr>
          <a:xfrm>
            <a:off x="32877450" y="4876800"/>
            <a:ext cx="9906000" cy="7461000"/>
          </a:xfrm>
          <a:prstGeom prst="rect">
            <a:avLst/>
          </a:prstGeom>
          <a:solidFill>
            <a:schemeClr val="lt1"/>
          </a:solidFill>
          <a:ln>
            <a:noFill/>
          </a:ln>
        </p:spPr>
        <p:txBody>
          <a:bodyPr spcFirstLastPara="1" wrap="square" lIns="360000" tIns="360000" rIns="360000" bIns="360000" anchor="t" anchorCtr="0">
            <a:noAutofit/>
          </a:bodyPr>
          <a:lstStyle/>
          <a:p>
            <a:pPr marL="0" marR="0" lvl="0" indent="0" algn="l" rtl="0">
              <a:spcBef>
                <a:spcPts val="0"/>
              </a:spcBef>
              <a:spcAft>
                <a:spcPts val="0"/>
              </a:spcAft>
              <a:buNone/>
            </a:pPr>
            <a:r>
              <a:rPr lang="en-US" sz="4000" b="1" u="sng">
                <a:solidFill>
                  <a:schemeClr val="dk2"/>
                </a:solidFill>
              </a:rPr>
              <a:t>DATASET</a:t>
            </a:r>
            <a:endParaRPr sz="4000" b="1">
              <a:solidFill>
                <a:srgbClr val="CC3300"/>
              </a:solidFill>
            </a:endParaRPr>
          </a:p>
          <a:p>
            <a:pPr marL="0" marR="0" lvl="0" indent="0" algn="l" rtl="0">
              <a:spcBef>
                <a:spcPts val="0"/>
              </a:spcBef>
              <a:spcAft>
                <a:spcPts val="0"/>
              </a:spcAft>
              <a:buNone/>
            </a:pPr>
            <a:endParaRPr sz="1200" b="1">
              <a:solidFill>
                <a:srgbClr val="CC3300"/>
              </a:solidFill>
            </a:endParaRPr>
          </a:p>
          <a:p>
            <a:pPr marL="0" marR="0" lvl="0" indent="0" algn="l" rtl="0">
              <a:spcBef>
                <a:spcPts val="0"/>
              </a:spcBef>
              <a:spcAft>
                <a:spcPts val="0"/>
              </a:spcAft>
              <a:buNone/>
            </a:pPr>
            <a:r>
              <a:rPr lang="en-US" sz="2800" b="1">
                <a:solidFill>
                  <a:schemeClr val="dk1"/>
                </a:solidFill>
              </a:rPr>
              <a:t>OhioT1DM</a:t>
            </a:r>
            <a:endParaRPr sz="2800">
              <a:solidFill>
                <a:schemeClr val="dk1"/>
              </a:solidFill>
              <a:latin typeface="Arial"/>
              <a:ea typeface="Arial"/>
              <a:cs typeface="Arial"/>
              <a:sym typeface="Arial"/>
            </a:endParaRPr>
          </a:p>
          <a:p>
            <a:pPr marL="457200" marR="0" lvl="0" indent="-406400" algn="l" rtl="0">
              <a:spcBef>
                <a:spcPts val="0"/>
              </a:spcBef>
              <a:spcAft>
                <a:spcPts val="0"/>
              </a:spcAft>
              <a:buClr>
                <a:schemeClr val="dk1"/>
              </a:buClr>
              <a:buSzPts val="2800"/>
              <a:buFont typeface="Arial"/>
              <a:buChar char="➔"/>
            </a:pPr>
            <a:r>
              <a:rPr lang="en-US" sz="2800">
                <a:solidFill>
                  <a:schemeClr val="dk1"/>
                </a:solidFill>
              </a:rPr>
              <a:t>12 Type 1 diabetes patients, monitored for 8 weeks</a:t>
            </a:r>
            <a:endParaRPr sz="2800">
              <a:solidFill>
                <a:schemeClr val="dk1"/>
              </a:solidFill>
            </a:endParaRPr>
          </a:p>
          <a:p>
            <a:pPr marL="457200" marR="0" lvl="0" indent="-406400" algn="l" rtl="0">
              <a:spcBef>
                <a:spcPts val="0"/>
              </a:spcBef>
              <a:spcAft>
                <a:spcPts val="0"/>
              </a:spcAft>
              <a:buClr>
                <a:schemeClr val="dk1"/>
              </a:buClr>
              <a:buSzPts val="2800"/>
              <a:buChar char="➔"/>
            </a:pPr>
            <a:r>
              <a:rPr lang="en-US" sz="2800">
                <a:solidFill>
                  <a:schemeClr val="dk1"/>
                </a:solidFill>
              </a:rPr>
              <a:t>Self reported CHO amount, sleep hours, exercise and work intensity</a:t>
            </a:r>
            <a:endParaRPr sz="2800">
              <a:solidFill>
                <a:schemeClr val="dk1"/>
              </a:solidFill>
            </a:endParaRPr>
          </a:p>
          <a:p>
            <a:pPr marL="457200" marR="0" lvl="0" indent="-406400" algn="l" rtl="0">
              <a:spcBef>
                <a:spcPts val="0"/>
              </a:spcBef>
              <a:spcAft>
                <a:spcPts val="0"/>
              </a:spcAft>
              <a:buClr>
                <a:schemeClr val="dk1"/>
              </a:buClr>
              <a:buSzPts val="2800"/>
              <a:buChar char="➔"/>
            </a:pPr>
            <a:r>
              <a:rPr lang="en-US" sz="2800">
                <a:solidFill>
                  <a:schemeClr val="dk1"/>
                </a:solidFill>
              </a:rPr>
              <a:t>Heart rate, skin response (GSR), acceleration, skin temperature were recorded on Empatica wristband</a:t>
            </a:r>
            <a:endParaRPr sz="2800">
              <a:solidFill>
                <a:schemeClr val="dk1"/>
              </a:solidFill>
            </a:endParaRPr>
          </a:p>
          <a:p>
            <a:pPr marL="457200" marR="0" lvl="0" indent="-406400" algn="l" rtl="0">
              <a:spcBef>
                <a:spcPts val="0"/>
              </a:spcBef>
              <a:spcAft>
                <a:spcPts val="0"/>
              </a:spcAft>
              <a:buClr>
                <a:schemeClr val="dk1"/>
              </a:buClr>
              <a:buSzPts val="2800"/>
              <a:buChar char="➔"/>
            </a:pPr>
            <a:r>
              <a:rPr lang="en-US" sz="2800">
                <a:solidFill>
                  <a:schemeClr val="dk1"/>
                </a:solidFill>
              </a:rPr>
              <a:t>Participants wore Medtronic 530G/630G insulin pumps and Medtronic Enlite CGM that transmits blood glucose level every 5 minutes</a:t>
            </a:r>
            <a:endParaRPr sz="2800">
              <a:solidFill>
                <a:schemeClr val="dk1"/>
              </a:solidFill>
            </a:endParaRPr>
          </a:p>
          <a:p>
            <a:pPr marL="457200" marR="0" lvl="0" indent="-406400" algn="l" rtl="0">
              <a:spcBef>
                <a:spcPts val="0"/>
              </a:spcBef>
              <a:spcAft>
                <a:spcPts val="0"/>
              </a:spcAft>
              <a:buClr>
                <a:schemeClr val="dk1"/>
              </a:buClr>
              <a:buSzPts val="2800"/>
              <a:buChar char="➔"/>
            </a:pPr>
            <a:r>
              <a:rPr lang="en-US" sz="2800">
                <a:solidFill>
                  <a:schemeClr val="dk1"/>
                </a:solidFill>
              </a:rPr>
              <a:t>Missing values were imputed with interpolation</a:t>
            </a:r>
            <a:endParaRPr sz="2800">
              <a:solidFill>
                <a:schemeClr val="dk1"/>
              </a:solidFill>
            </a:endParaRPr>
          </a:p>
          <a:p>
            <a:pPr marL="457200" marR="0" lvl="0" indent="-406400" algn="l" rtl="0">
              <a:spcBef>
                <a:spcPts val="0"/>
              </a:spcBef>
              <a:spcAft>
                <a:spcPts val="0"/>
              </a:spcAft>
              <a:buClr>
                <a:schemeClr val="dk1"/>
              </a:buClr>
              <a:buSzPts val="2800"/>
              <a:buChar char="➔"/>
            </a:pPr>
            <a:r>
              <a:rPr lang="en-US" sz="2800">
                <a:solidFill>
                  <a:schemeClr val="dk1"/>
                </a:solidFill>
              </a:rPr>
              <a:t>2 subjects were removed from analysis for not having entries for CHO, work, sleep, and exercise sessions</a:t>
            </a:r>
            <a:endParaRPr sz="2800">
              <a:solidFill>
                <a:schemeClr val="dk1"/>
              </a:solidFill>
            </a:endParaRPr>
          </a:p>
          <a:p>
            <a:pPr marL="457200" marR="0" lvl="0" indent="-406400" algn="l" rtl="0">
              <a:spcBef>
                <a:spcPts val="0"/>
              </a:spcBef>
              <a:spcAft>
                <a:spcPts val="0"/>
              </a:spcAft>
              <a:buClr>
                <a:schemeClr val="dk1"/>
              </a:buClr>
              <a:buSzPts val="2800"/>
              <a:buChar char="➔"/>
            </a:pPr>
            <a:r>
              <a:rPr lang="en-US" sz="2800">
                <a:solidFill>
                  <a:schemeClr val="dk1"/>
                </a:solidFill>
              </a:rPr>
              <a:t>44 days for training and 12 days for testing.</a:t>
            </a:r>
            <a:endParaRPr sz="2800">
              <a:solidFill>
                <a:schemeClr val="dk1"/>
              </a:solidFill>
            </a:endParaRPr>
          </a:p>
          <a:p>
            <a:pPr marL="457200" marR="0" lvl="0" indent="-406400" algn="l" rtl="0">
              <a:spcBef>
                <a:spcPts val="0"/>
              </a:spcBef>
              <a:spcAft>
                <a:spcPts val="0"/>
              </a:spcAft>
              <a:buClr>
                <a:schemeClr val="dk1"/>
              </a:buClr>
              <a:buSzPts val="2800"/>
              <a:buChar char="➔"/>
            </a:pPr>
            <a:r>
              <a:rPr lang="en-US" sz="2800">
                <a:solidFill>
                  <a:schemeClr val="dk1"/>
                </a:solidFill>
              </a:rPr>
              <a:t>3 forecast horizon: 5, 30 and 60 minutes</a:t>
            </a:r>
            <a:endParaRPr sz="2800">
              <a:solidFill>
                <a:schemeClr val="dk1"/>
              </a:solidFill>
            </a:endParaRPr>
          </a:p>
        </p:txBody>
      </p:sp>
      <p:pic>
        <p:nvPicPr>
          <p:cNvPr id="35" name="Google Shape;35;p1"/>
          <p:cNvPicPr preferRelativeResize="0"/>
          <p:nvPr/>
        </p:nvPicPr>
        <p:blipFill>
          <a:blip r:embed="rId4">
            <a:alphaModFix/>
          </a:blip>
          <a:stretch>
            <a:fillRect/>
          </a:stretch>
        </p:blipFill>
        <p:spPr>
          <a:xfrm>
            <a:off x="9120750" y="17457663"/>
            <a:ext cx="3009900" cy="704850"/>
          </a:xfrm>
          <a:prstGeom prst="rect">
            <a:avLst/>
          </a:prstGeom>
          <a:noFill/>
          <a:ln>
            <a:noFill/>
          </a:ln>
        </p:spPr>
      </p:pic>
      <p:pic>
        <p:nvPicPr>
          <p:cNvPr id="36" name="Google Shape;36;p1"/>
          <p:cNvPicPr preferRelativeResize="0"/>
          <p:nvPr/>
        </p:nvPicPr>
        <p:blipFill rotWithShape="1">
          <a:blip r:embed="rId5">
            <a:alphaModFix/>
          </a:blip>
          <a:srcRect r="14559"/>
          <a:stretch/>
        </p:blipFill>
        <p:spPr>
          <a:xfrm>
            <a:off x="11939575" y="24823725"/>
            <a:ext cx="7905399" cy="5462324"/>
          </a:xfrm>
          <a:prstGeom prst="rect">
            <a:avLst/>
          </a:prstGeom>
          <a:noFill/>
          <a:ln>
            <a:noFill/>
          </a:ln>
        </p:spPr>
      </p:pic>
      <p:sp>
        <p:nvSpPr>
          <p:cNvPr id="37" name="Google Shape;37;p1"/>
          <p:cNvSpPr/>
          <p:nvPr/>
        </p:nvSpPr>
        <p:spPr>
          <a:xfrm>
            <a:off x="32867300" y="12819175"/>
            <a:ext cx="9906000" cy="9620400"/>
          </a:xfrm>
          <a:prstGeom prst="rect">
            <a:avLst/>
          </a:prstGeom>
          <a:solidFill>
            <a:schemeClr val="lt1"/>
          </a:solidFill>
          <a:ln>
            <a:noFill/>
          </a:ln>
        </p:spPr>
        <p:txBody>
          <a:bodyPr spcFirstLastPara="1" wrap="square" lIns="360000" tIns="360000" rIns="360000" bIns="360000" anchor="t" anchorCtr="0">
            <a:noAutofit/>
          </a:bodyPr>
          <a:lstStyle/>
          <a:p>
            <a:pPr marL="0" lvl="0" indent="0" algn="l" rtl="0">
              <a:spcBef>
                <a:spcPts val="0"/>
              </a:spcBef>
              <a:spcAft>
                <a:spcPts val="0"/>
              </a:spcAft>
              <a:buClr>
                <a:schemeClr val="dk1"/>
              </a:buClr>
              <a:buFont typeface="Arial"/>
              <a:buNone/>
            </a:pPr>
            <a:r>
              <a:rPr lang="en-US" sz="4000" b="1" u="sng">
                <a:solidFill>
                  <a:schemeClr val="dk2"/>
                </a:solidFill>
              </a:rPr>
              <a:t>RESULTS</a:t>
            </a:r>
            <a:endParaRPr sz="4000" b="1">
              <a:solidFill>
                <a:srgbClr val="CC3300"/>
              </a:solidFill>
            </a:endParaRPr>
          </a:p>
          <a:p>
            <a:pPr marL="0" marR="0" lvl="0" indent="0" algn="l" rtl="0">
              <a:spcBef>
                <a:spcPts val="0"/>
              </a:spcBef>
              <a:spcAft>
                <a:spcPts val="0"/>
              </a:spcAft>
              <a:buNone/>
            </a:pPr>
            <a:endParaRPr sz="1200" b="1">
              <a:solidFill>
                <a:srgbClr val="CC3300"/>
              </a:solidFill>
            </a:endParaRPr>
          </a:p>
          <a:p>
            <a:pPr marL="0" marR="0" lvl="0" indent="0" algn="l" rtl="0">
              <a:spcBef>
                <a:spcPts val="0"/>
              </a:spcBef>
              <a:spcAft>
                <a:spcPts val="0"/>
              </a:spcAft>
              <a:buNone/>
            </a:pPr>
            <a:r>
              <a:rPr lang="en-US" sz="2800" b="1">
                <a:solidFill>
                  <a:schemeClr val="dk1"/>
                </a:solidFill>
              </a:rPr>
              <a:t>Intervention</a:t>
            </a:r>
            <a:endParaRPr sz="2800" b="1">
              <a:solidFill>
                <a:schemeClr val="dk1"/>
              </a:solidFill>
            </a:endParaRPr>
          </a:p>
          <a:p>
            <a:pPr marL="457200" marR="0" lvl="0" indent="-406400" algn="l" rtl="0">
              <a:spcBef>
                <a:spcPts val="0"/>
              </a:spcBef>
              <a:spcAft>
                <a:spcPts val="0"/>
              </a:spcAft>
              <a:buClr>
                <a:schemeClr val="dk1"/>
              </a:buClr>
              <a:buSzPts val="2800"/>
              <a:buChar char="●"/>
            </a:pPr>
            <a:r>
              <a:rPr lang="en-US" sz="2800">
                <a:solidFill>
                  <a:schemeClr val="dk1"/>
                </a:solidFill>
              </a:rPr>
              <a:t>Once the significant factor is identified, GlySim keeps changing the value until normoglycemia is achieved</a:t>
            </a:r>
            <a:endParaRPr sz="2800">
              <a:solidFill>
                <a:schemeClr val="dk1"/>
              </a:solidFill>
            </a:endParaRPr>
          </a:p>
          <a:p>
            <a:pPr marL="457200" marR="0" lvl="0" indent="0" algn="l" rtl="0">
              <a:spcBef>
                <a:spcPts val="0"/>
              </a:spcBef>
              <a:spcAft>
                <a:spcPts val="0"/>
              </a:spcAft>
              <a:buNone/>
            </a:pPr>
            <a:endParaRPr sz="2800">
              <a:solidFill>
                <a:schemeClr val="dk1"/>
              </a:solidFill>
            </a:endParaRPr>
          </a:p>
        </p:txBody>
      </p:sp>
      <p:pic>
        <p:nvPicPr>
          <p:cNvPr id="38" name="Google Shape;38;p1"/>
          <p:cNvPicPr preferRelativeResize="0"/>
          <p:nvPr/>
        </p:nvPicPr>
        <p:blipFill>
          <a:blip r:embed="rId6">
            <a:alphaModFix/>
          </a:blip>
          <a:stretch>
            <a:fillRect/>
          </a:stretch>
        </p:blipFill>
        <p:spPr>
          <a:xfrm>
            <a:off x="20834925" y="24241000"/>
            <a:ext cx="11280886" cy="1706102"/>
          </a:xfrm>
          <a:prstGeom prst="rect">
            <a:avLst/>
          </a:prstGeom>
          <a:noFill/>
          <a:ln>
            <a:noFill/>
          </a:ln>
        </p:spPr>
      </p:pic>
      <p:pic>
        <p:nvPicPr>
          <p:cNvPr id="39" name="Google Shape;39;p1"/>
          <p:cNvPicPr preferRelativeResize="0"/>
          <p:nvPr/>
        </p:nvPicPr>
        <p:blipFill>
          <a:blip r:embed="rId7">
            <a:alphaModFix/>
          </a:blip>
          <a:stretch>
            <a:fillRect/>
          </a:stretch>
        </p:blipFill>
        <p:spPr>
          <a:xfrm>
            <a:off x="21745727" y="15619387"/>
            <a:ext cx="9408036" cy="6957050"/>
          </a:xfrm>
          <a:prstGeom prst="rect">
            <a:avLst/>
          </a:prstGeom>
          <a:noFill/>
          <a:ln>
            <a:noFill/>
          </a:ln>
        </p:spPr>
      </p:pic>
      <p:pic>
        <p:nvPicPr>
          <p:cNvPr id="40" name="Google Shape;40;p1"/>
          <p:cNvPicPr preferRelativeResize="0"/>
          <p:nvPr/>
        </p:nvPicPr>
        <p:blipFill>
          <a:blip r:embed="rId8">
            <a:alphaModFix/>
          </a:blip>
          <a:stretch>
            <a:fillRect/>
          </a:stretch>
        </p:blipFill>
        <p:spPr>
          <a:xfrm>
            <a:off x="21945600" y="27611656"/>
            <a:ext cx="9302100" cy="4304794"/>
          </a:xfrm>
          <a:prstGeom prst="rect">
            <a:avLst/>
          </a:prstGeom>
          <a:noFill/>
          <a:ln>
            <a:noFill/>
          </a:ln>
        </p:spPr>
      </p:pic>
      <p:sp>
        <p:nvSpPr>
          <p:cNvPr id="41" name="Google Shape;41;p1"/>
          <p:cNvSpPr txBox="1"/>
          <p:nvPr/>
        </p:nvSpPr>
        <p:spPr>
          <a:xfrm>
            <a:off x="1142925" y="30973900"/>
            <a:ext cx="18965400" cy="123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t>Asiful Arefeen, PhD Candidate, Biomedical Informatics. Website: </a:t>
            </a:r>
            <a:r>
              <a:rPr lang="en-US" sz="2800" b="1" u="sng">
                <a:solidFill>
                  <a:schemeClr val="hlink"/>
                </a:solidFill>
                <a:hlinkClick r:id="rId9"/>
              </a:rPr>
              <a:t>asiful-arefeen.com</a:t>
            </a:r>
            <a:r>
              <a:rPr lang="en-US" sz="2800" b="1"/>
              <a:t>, email: </a:t>
            </a:r>
            <a:r>
              <a:rPr lang="en-US" sz="2800" b="1" u="sng">
                <a:solidFill>
                  <a:schemeClr val="hlink"/>
                </a:solidFill>
                <a:hlinkClick r:id="rId10"/>
              </a:rPr>
              <a:t>aarefeen@asu.edu</a:t>
            </a:r>
            <a:endParaRPr sz="2800" b="1"/>
          </a:p>
          <a:p>
            <a:pPr marL="0" lvl="0" indent="0" algn="l" rtl="0">
              <a:spcBef>
                <a:spcPts val="0"/>
              </a:spcBef>
              <a:spcAft>
                <a:spcPts val="0"/>
              </a:spcAft>
              <a:buNone/>
            </a:pPr>
            <a:r>
              <a:rPr lang="en-US" sz="2800" b="1"/>
              <a:t>Embedded Machine Intelligence Lab (EMIL), Arizona State University. Website: </a:t>
            </a:r>
            <a:r>
              <a:rPr lang="en-US" sz="2800" b="1" u="sng">
                <a:solidFill>
                  <a:schemeClr val="hlink"/>
                </a:solidFill>
                <a:hlinkClick r:id="rId11"/>
              </a:rPr>
              <a:t>ghasemzadeh.com</a:t>
            </a:r>
            <a:endParaRPr sz="2800" b="1"/>
          </a:p>
        </p:txBody>
      </p:sp>
      <p:pic>
        <p:nvPicPr>
          <p:cNvPr id="42" name="Google Shape;42;p1"/>
          <p:cNvPicPr preferRelativeResize="0"/>
          <p:nvPr/>
        </p:nvPicPr>
        <p:blipFill>
          <a:blip r:embed="rId12">
            <a:alphaModFix/>
          </a:blip>
          <a:stretch>
            <a:fillRect/>
          </a:stretch>
        </p:blipFill>
        <p:spPr>
          <a:xfrm>
            <a:off x="36927287" y="1907875"/>
            <a:ext cx="5856165" cy="1499100"/>
          </a:xfrm>
          <a:prstGeom prst="rect">
            <a:avLst/>
          </a:prstGeom>
          <a:noFill/>
          <a:ln>
            <a:noFill/>
          </a:ln>
        </p:spPr>
      </p:pic>
      <p:pic>
        <p:nvPicPr>
          <p:cNvPr id="43" name="Google Shape;43;p1"/>
          <p:cNvPicPr preferRelativeResize="0"/>
          <p:nvPr/>
        </p:nvPicPr>
        <p:blipFill rotWithShape="1">
          <a:blip r:embed="rId13">
            <a:alphaModFix/>
          </a:blip>
          <a:srcRect l="13543" t="75346" r="14642"/>
          <a:stretch/>
        </p:blipFill>
        <p:spPr>
          <a:xfrm>
            <a:off x="32124750" y="1907875"/>
            <a:ext cx="4366748" cy="1499100"/>
          </a:xfrm>
          <a:prstGeom prst="rect">
            <a:avLst/>
          </a:prstGeom>
          <a:noFill/>
          <a:ln>
            <a:noFill/>
          </a:ln>
        </p:spPr>
      </p:pic>
      <p:pic>
        <p:nvPicPr>
          <p:cNvPr id="44" name="Google Shape;44;p1"/>
          <p:cNvPicPr preferRelativeResize="0"/>
          <p:nvPr/>
        </p:nvPicPr>
        <p:blipFill>
          <a:blip r:embed="rId14">
            <a:alphaModFix/>
          </a:blip>
          <a:stretch>
            <a:fillRect/>
          </a:stretch>
        </p:blipFill>
        <p:spPr>
          <a:xfrm>
            <a:off x="12715175" y="17710575"/>
            <a:ext cx="7053600" cy="5604151"/>
          </a:xfrm>
          <a:prstGeom prst="rect">
            <a:avLst/>
          </a:prstGeom>
          <a:noFill/>
          <a:ln>
            <a:noFill/>
          </a:ln>
        </p:spPr>
      </p:pic>
      <p:pic>
        <p:nvPicPr>
          <p:cNvPr id="45" name="Google Shape;45;p1"/>
          <p:cNvPicPr preferRelativeResize="0"/>
          <p:nvPr/>
        </p:nvPicPr>
        <p:blipFill>
          <a:blip r:embed="rId15">
            <a:alphaModFix/>
          </a:blip>
          <a:stretch>
            <a:fillRect/>
          </a:stretch>
        </p:blipFill>
        <p:spPr>
          <a:xfrm>
            <a:off x="1472900" y="18063675"/>
            <a:ext cx="10719099" cy="5385701"/>
          </a:xfrm>
          <a:prstGeom prst="rect">
            <a:avLst/>
          </a:prstGeom>
          <a:noFill/>
          <a:ln>
            <a:noFill/>
          </a:ln>
        </p:spPr>
      </p:pic>
      <p:pic>
        <p:nvPicPr>
          <p:cNvPr id="46" name="Google Shape;46;p1"/>
          <p:cNvPicPr preferRelativeResize="0"/>
          <p:nvPr/>
        </p:nvPicPr>
        <p:blipFill>
          <a:blip r:embed="rId16">
            <a:alphaModFix/>
          </a:blip>
          <a:stretch>
            <a:fillRect/>
          </a:stretch>
        </p:blipFill>
        <p:spPr>
          <a:xfrm>
            <a:off x="33752963" y="15544625"/>
            <a:ext cx="8154977" cy="661396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2"/>
          <p:cNvSpPr/>
          <p:nvPr/>
        </p:nvSpPr>
        <p:spPr>
          <a:xfrm>
            <a:off x="1143000" y="2163763"/>
            <a:ext cx="41605200" cy="1292100"/>
          </a:xfrm>
          <a:prstGeom prst="rect">
            <a:avLst/>
          </a:prstGeom>
          <a:noFill/>
          <a:ln>
            <a:noFill/>
          </a:ln>
        </p:spPr>
        <p:txBody>
          <a:bodyPr spcFirstLastPara="1" wrap="square" lIns="91225" tIns="45600" rIns="91225" bIns="45600" anchor="t" anchorCtr="0">
            <a:spAutoFit/>
          </a:bodyPr>
          <a:lstStyle/>
          <a:p>
            <a:pPr marL="0" marR="0" lvl="0" indent="0" algn="l" rtl="0">
              <a:spcBef>
                <a:spcPts val="0"/>
              </a:spcBef>
              <a:spcAft>
                <a:spcPts val="0"/>
              </a:spcAft>
              <a:buNone/>
            </a:pPr>
            <a:r>
              <a:rPr lang="en-US" sz="5000" b="1">
                <a:solidFill>
                  <a:schemeClr val="dk2"/>
                </a:solidFill>
                <a:latin typeface="Arial"/>
                <a:ea typeface="Arial"/>
                <a:cs typeface="Arial"/>
                <a:sym typeface="Arial"/>
              </a:rPr>
              <a:t>Presenter name, Associates and Collaborators</a:t>
            </a:r>
            <a:br>
              <a:rPr lang="en-US" sz="4800" b="1">
                <a:solidFill>
                  <a:schemeClr val="dk2"/>
                </a:solidFill>
                <a:latin typeface="Arial"/>
                <a:ea typeface="Arial"/>
                <a:cs typeface="Arial"/>
                <a:sym typeface="Arial"/>
              </a:rPr>
            </a:br>
            <a:r>
              <a:rPr lang="en-US" sz="2800" b="1">
                <a:solidFill>
                  <a:schemeClr val="dk2"/>
                </a:solidFill>
                <a:latin typeface="Arial"/>
                <a:ea typeface="Arial"/>
                <a:cs typeface="Arial"/>
                <a:sym typeface="Arial"/>
              </a:rPr>
              <a:t>College of Health Solutions, Arizona State University</a:t>
            </a:r>
            <a:endParaRPr/>
          </a:p>
        </p:txBody>
      </p:sp>
      <p:sp>
        <p:nvSpPr>
          <p:cNvPr id="52" name="Google Shape;52;p2"/>
          <p:cNvSpPr txBox="1"/>
          <p:nvPr/>
        </p:nvSpPr>
        <p:spPr>
          <a:xfrm>
            <a:off x="1143000" y="609600"/>
            <a:ext cx="41605200" cy="1446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800" b="1">
                <a:solidFill>
                  <a:schemeClr val="dk1"/>
                </a:solidFill>
                <a:latin typeface="Arial"/>
                <a:ea typeface="Arial"/>
                <a:cs typeface="Arial"/>
                <a:sym typeface="Arial"/>
              </a:rPr>
              <a:t>Template for a 48”x36” poster</a:t>
            </a:r>
            <a:endParaRPr sz="8800" b="1">
              <a:solidFill>
                <a:schemeClr val="dk1"/>
              </a:solidFill>
              <a:latin typeface="Arial"/>
              <a:ea typeface="Arial"/>
              <a:cs typeface="Arial"/>
              <a:sym typeface="Arial"/>
            </a:endParaRPr>
          </a:p>
        </p:txBody>
      </p:sp>
      <p:sp>
        <p:nvSpPr>
          <p:cNvPr id="53" name="Google Shape;53;p2"/>
          <p:cNvSpPr/>
          <p:nvPr/>
        </p:nvSpPr>
        <p:spPr>
          <a:xfrm>
            <a:off x="32918400" y="24993600"/>
            <a:ext cx="9829800" cy="4191000"/>
          </a:xfrm>
          <a:prstGeom prst="rect">
            <a:avLst/>
          </a:prstGeom>
          <a:solidFill>
            <a:schemeClr val="lt1"/>
          </a:solidFill>
          <a:ln>
            <a:noFill/>
          </a:ln>
        </p:spPr>
        <p:txBody>
          <a:bodyPr spcFirstLastPara="1" wrap="square" lIns="360000" tIns="360000" rIns="360000" bIns="360000" anchor="t" anchorCtr="0">
            <a:noAutofit/>
          </a:bodyPr>
          <a:lstStyle/>
          <a:p>
            <a:pPr marL="0" marR="0" lvl="0" indent="0" algn="l" rtl="0">
              <a:spcBef>
                <a:spcPts val="0"/>
              </a:spcBef>
              <a:spcAft>
                <a:spcPts val="0"/>
              </a:spcAft>
              <a:buNone/>
            </a:pPr>
            <a:r>
              <a:rPr lang="en-US" sz="4000" b="1" u="sng">
                <a:solidFill>
                  <a:srgbClr val="131F33"/>
                </a:solidFill>
                <a:latin typeface="Arial"/>
                <a:ea typeface="Arial"/>
                <a:cs typeface="Arial"/>
                <a:sym typeface="Arial"/>
              </a:rPr>
              <a:t>ACKNOWLEDGEMENTS</a:t>
            </a:r>
            <a:endParaRPr sz="4000" b="1">
              <a:solidFill>
                <a:srgbClr val="131F33"/>
              </a:solidFill>
              <a:latin typeface="Arial"/>
              <a:ea typeface="Arial"/>
              <a:cs typeface="Arial"/>
              <a:sym typeface="Arial"/>
            </a:endParaRPr>
          </a:p>
          <a:p>
            <a:pPr marL="0" marR="0" lvl="0" indent="0" algn="l" rtl="0">
              <a:spcBef>
                <a:spcPts val="0"/>
              </a:spcBef>
              <a:spcAft>
                <a:spcPts val="0"/>
              </a:spcAft>
              <a:buNone/>
            </a:pPr>
            <a:endParaRPr sz="2800">
              <a:solidFill>
                <a:schemeClr val="dk1"/>
              </a:solidFill>
              <a:latin typeface="Arial"/>
              <a:ea typeface="Arial"/>
              <a:cs typeface="Arial"/>
              <a:sym typeface="Arial"/>
            </a:endParaRPr>
          </a:p>
          <a:p>
            <a:pPr marL="0" marR="0" lvl="0" indent="0" algn="l" rtl="0">
              <a:spcBef>
                <a:spcPts val="0"/>
              </a:spcBef>
              <a:spcAft>
                <a:spcPts val="0"/>
              </a:spcAft>
              <a:buNone/>
            </a:pPr>
            <a:r>
              <a:rPr lang="en-US" sz="2800">
                <a:solidFill>
                  <a:schemeClr val="dk1"/>
                </a:solidFill>
                <a:latin typeface="Arial"/>
                <a:ea typeface="Arial"/>
                <a:cs typeface="Arial"/>
                <a:sym typeface="Arial"/>
              </a:rPr>
              <a:t>Check to make sure you’ve acknowledged partner and funding agencies, either with text or with their logos.</a:t>
            </a:r>
            <a:endParaRPr sz="2800">
              <a:solidFill>
                <a:schemeClr val="dk1"/>
              </a:solidFill>
              <a:latin typeface="Arial"/>
              <a:ea typeface="Arial"/>
              <a:cs typeface="Arial"/>
              <a:sym typeface="Arial"/>
            </a:endParaRPr>
          </a:p>
        </p:txBody>
      </p:sp>
      <p:sp>
        <p:nvSpPr>
          <p:cNvPr id="54" name="Google Shape;54;p2"/>
          <p:cNvSpPr/>
          <p:nvPr/>
        </p:nvSpPr>
        <p:spPr>
          <a:xfrm>
            <a:off x="1143000" y="20421600"/>
            <a:ext cx="9829800" cy="11506200"/>
          </a:xfrm>
          <a:prstGeom prst="rect">
            <a:avLst/>
          </a:prstGeom>
          <a:solidFill>
            <a:schemeClr val="lt1"/>
          </a:solidFill>
          <a:ln>
            <a:noFill/>
          </a:ln>
        </p:spPr>
        <p:txBody>
          <a:bodyPr spcFirstLastPara="1" wrap="square" lIns="360000" tIns="360000" rIns="360000" bIns="360000" anchor="t" anchorCtr="0">
            <a:noAutofit/>
          </a:bodyPr>
          <a:lstStyle/>
          <a:p>
            <a:pPr marL="0" marR="0" lvl="0" indent="0" algn="l" rtl="0">
              <a:spcBef>
                <a:spcPts val="0"/>
              </a:spcBef>
              <a:spcAft>
                <a:spcPts val="0"/>
              </a:spcAft>
              <a:buNone/>
            </a:pPr>
            <a:r>
              <a:rPr lang="en-US" sz="4000" b="1" u="sng">
                <a:solidFill>
                  <a:srgbClr val="131F33"/>
                </a:solidFill>
                <a:latin typeface="Arial"/>
                <a:ea typeface="Arial"/>
                <a:cs typeface="Arial"/>
                <a:sym typeface="Arial"/>
              </a:rPr>
              <a:t>AIM</a:t>
            </a:r>
            <a:endParaRPr sz="4000" b="1">
              <a:solidFill>
                <a:srgbClr val="131F33"/>
              </a:solidFill>
              <a:latin typeface="Arial"/>
              <a:ea typeface="Arial"/>
              <a:cs typeface="Arial"/>
              <a:sym typeface="Arial"/>
            </a:endParaRPr>
          </a:p>
          <a:p>
            <a:pPr marL="0" marR="0" lvl="0" indent="0" algn="l" rtl="0">
              <a:spcBef>
                <a:spcPts val="0"/>
              </a:spcBef>
              <a:spcAft>
                <a:spcPts val="0"/>
              </a:spcAft>
              <a:buNone/>
            </a:pPr>
            <a:r>
              <a:rPr lang="en-US" sz="2800">
                <a:solidFill>
                  <a:schemeClr val="dk1"/>
                </a:solidFill>
                <a:latin typeface="Arial"/>
                <a:ea typeface="Arial"/>
                <a:cs typeface="Arial"/>
                <a:sym typeface="Arial"/>
              </a:rPr>
              <a:t> </a:t>
            </a:r>
            <a:endParaRPr/>
          </a:p>
          <a:p>
            <a:pPr marL="0" marR="0" lvl="0" indent="0" algn="l" rtl="0">
              <a:spcBef>
                <a:spcPts val="0"/>
              </a:spcBef>
              <a:spcAft>
                <a:spcPts val="0"/>
              </a:spcAft>
              <a:buNone/>
            </a:pPr>
            <a:r>
              <a:rPr lang="en-US" sz="2800" b="1">
                <a:solidFill>
                  <a:schemeClr val="dk1"/>
                </a:solidFill>
                <a:latin typeface="Arial"/>
                <a:ea typeface="Arial"/>
                <a:cs typeface="Arial"/>
                <a:sym typeface="Arial"/>
              </a:rPr>
              <a:t>How to use this template</a:t>
            </a:r>
            <a:endParaRPr sz="2800">
              <a:solidFill>
                <a:schemeClr val="dk1"/>
              </a:solidFill>
              <a:latin typeface="Arial"/>
              <a:ea typeface="Arial"/>
              <a:cs typeface="Arial"/>
              <a:sym typeface="Arial"/>
            </a:endParaRPr>
          </a:p>
          <a:p>
            <a:pPr marL="0" marR="0" lvl="0" indent="0" algn="l" rtl="0">
              <a:spcBef>
                <a:spcPts val="0"/>
              </a:spcBef>
              <a:spcAft>
                <a:spcPts val="0"/>
              </a:spcAft>
              <a:buNone/>
            </a:pPr>
            <a:r>
              <a:rPr lang="en-US" sz="2800">
                <a:solidFill>
                  <a:schemeClr val="dk1"/>
                </a:solidFill>
                <a:latin typeface="Arial"/>
                <a:ea typeface="Arial"/>
                <a:cs typeface="Arial"/>
                <a:sym typeface="Arial"/>
              </a:rPr>
              <a:t>Highlight this text and replace it with new text from a Microsoft Word document or other text-editing program. The text size for body copy and headings and the typeface has been set for you. If you choose to change typefaces, use common ones such as Arial, or Helvetica and keep the body text between 26 and 32 points.</a:t>
            </a:r>
            <a:endParaRPr/>
          </a:p>
          <a:p>
            <a:pPr marL="0" marR="0" lvl="0" indent="0" algn="l" rtl="0">
              <a:spcBef>
                <a:spcPts val="0"/>
              </a:spcBef>
              <a:spcAft>
                <a:spcPts val="0"/>
              </a:spcAft>
              <a:buNone/>
            </a:pPr>
            <a:endParaRPr sz="2800">
              <a:solidFill>
                <a:schemeClr val="dk1"/>
              </a:solidFill>
              <a:latin typeface="Arial"/>
              <a:ea typeface="Arial"/>
              <a:cs typeface="Arial"/>
              <a:sym typeface="Arial"/>
            </a:endParaRPr>
          </a:p>
          <a:p>
            <a:pPr marL="0" marR="0" lvl="0" indent="0" algn="l" rtl="0">
              <a:spcBef>
                <a:spcPts val="0"/>
              </a:spcBef>
              <a:spcAft>
                <a:spcPts val="0"/>
              </a:spcAft>
              <a:buNone/>
            </a:pPr>
            <a:r>
              <a:rPr lang="en-US" sz="2800">
                <a:solidFill>
                  <a:schemeClr val="dk1"/>
                </a:solidFill>
                <a:latin typeface="Arial"/>
                <a:ea typeface="Arial"/>
                <a:cs typeface="Arial"/>
                <a:sym typeface="Arial"/>
              </a:rPr>
              <a:t>The text boxes and photo boxes may be resized, eliminated, or added as necessary.</a:t>
            </a:r>
            <a:endParaRPr/>
          </a:p>
        </p:txBody>
      </p:sp>
      <p:sp>
        <p:nvSpPr>
          <p:cNvPr id="55" name="Google Shape;55;p2"/>
          <p:cNvSpPr/>
          <p:nvPr/>
        </p:nvSpPr>
        <p:spPr>
          <a:xfrm>
            <a:off x="1143000" y="5181600"/>
            <a:ext cx="9829800" cy="14478000"/>
          </a:xfrm>
          <a:prstGeom prst="rect">
            <a:avLst/>
          </a:prstGeom>
          <a:solidFill>
            <a:schemeClr val="lt1"/>
          </a:solidFill>
          <a:ln>
            <a:noFill/>
          </a:ln>
        </p:spPr>
        <p:txBody>
          <a:bodyPr spcFirstLastPara="1" wrap="square" lIns="360000" tIns="360000" rIns="360000" bIns="360000" anchor="t" anchorCtr="0">
            <a:noAutofit/>
          </a:bodyPr>
          <a:lstStyle/>
          <a:p>
            <a:pPr marL="0" marR="0" lvl="0" indent="0" algn="l" rtl="0">
              <a:spcBef>
                <a:spcPts val="0"/>
              </a:spcBef>
              <a:spcAft>
                <a:spcPts val="0"/>
              </a:spcAft>
              <a:buNone/>
            </a:pPr>
            <a:r>
              <a:rPr lang="en-US" sz="4000" b="1" u="sng">
                <a:solidFill>
                  <a:schemeClr val="dk1"/>
                </a:solidFill>
                <a:latin typeface="Arial"/>
                <a:ea typeface="Arial"/>
                <a:cs typeface="Arial"/>
                <a:sym typeface="Arial"/>
              </a:rPr>
              <a:t>INTRODUCTION</a:t>
            </a:r>
            <a:endParaRPr/>
          </a:p>
          <a:p>
            <a:pPr marL="0" marR="0" lvl="0" indent="0" algn="l" rtl="0">
              <a:spcBef>
                <a:spcPts val="0"/>
              </a:spcBef>
              <a:spcAft>
                <a:spcPts val="0"/>
              </a:spcAft>
              <a:buNone/>
            </a:pPr>
            <a:r>
              <a:rPr lang="en-US" sz="2800" b="1">
                <a:solidFill>
                  <a:schemeClr val="dk1"/>
                </a:solidFill>
                <a:latin typeface="Arial"/>
                <a:ea typeface="Arial"/>
                <a:cs typeface="Arial"/>
                <a:sym typeface="Arial"/>
              </a:rPr>
              <a:t> </a:t>
            </a:r>
            <a:endParaRPr sz="2800">
              <a:solidFill>
                <a:schemeClr val="dk1"/>
              </a:solidFill>
              <a:latin typeface="Arial"/>
              <a:ea typeface="Arial"/>
              <a:cs typeface="Arial"/>
              <a:sym typeface="Arial"/>
            </a:endParaRPr>
          </a:p>
          <a:p>
            <a:pPr marL="0" marR="0" lvl="0" indent="0" algn="l" rtl="0">
              <a:spcBef>
                <a:spcPts val="0"/>
              </a:spcBef>
              <a:spcAft>
                <a:spcPts val="0"/>
              </a:spcAft>
              <a:buNone/>
            </a:pPr>
            <a:r>
              <a:rPr lang="en-US" sz="2800">
                <a:solidFill>
                  <a:schemeClr val="dk1"/>
                </a:solidFill>
                <a:latin typeface="Arial"/>
                <a:ea typeface="Arial"/>
                <a:cs typeface="Arial"/>
                <a:sym typeface="Arial"/>
              </a:rPr>
              <a:t>This editable template is in the most common poster size (48” x 36”) and orientation (horizontal); check with the conference organizers for specific conference requirements regarding exact poster dimensions. </a:t>
            </a:r>
            <a:endParaRPr/>
          </a:p>
        </p:txBody>
      </p:sp>
      <p:sp>
        <p:nvSpPr>
          <p:cNvPr id="56" name="Google Shape;56;p2"/>
          <p:cNvSpPr/>
          <p:nvPr/>
        </p:nvSpPr>
        <p:spPr>
          <a:xfrm>
            <a:off x="11734800" y="5181600"/>
            <a:ext cx="9829800" cy="26746200"/>
          </a:xfrm>
          <a:prstGeom prst="rect">
            <a:avLst/>
          </a:prstGeom>
          <a:solidFill>
            <a:schemeClr val="lt1"/>
          </a:solidFill>
          <a:ln>
            <a:noFill/>
          </a:ln>
        </p:spPr>
        <p:txBody>
          <a:bodyPr spcFirstLastPara="1" wrap="square" lIns="360000" tIns="360000" rIns="360000" bIns="360000" anchor="t" anchorCtr="0">
            <a:noAutofit/>
          </a:bodyPr>
          <a:lstStyle/>
          <a:p>
            <a:pPr marL="381000" marR="0" lvl="0" indent="-381000" algn="l" rtl="0">
              <a:spcBef>
                <a:spcPts val="0"/>
              </a:spcBef>
              <a:spcAft>
                <a:spcPts val="0"/>
              </a:spcAft>
              <a:buNone/>
            </a:pPr>
            <a:r>
              <a:rPr lang="en-US" sz="4000" b="1" u="sng">
                <a:solidFill>
                  <a:srgbClr val="131F33"/>
                </a:solidFill>
                <a:latin typeface="Arial"/>
                <a:ea typeface="Arial"/>
                <a:cs typeface="Arial"/>
                <a:sym typeface="Arial"/>
              </a:rPr>
              <a:t>METHOD</a:t>
            </a:r>
            <a:endParaRPr sz="4000" b="1">
              <a:solidFill>
                <a:srgbClr val="131F33"/>
              </a:solidFill>
              <a:latin typeface="Arial"/>
              <a:ea typeface="Arial"/>
              <a:cs typeface="Arial"/>
              <a:sym typeface="Arial"/>
            </a:endParaRPr>
          </a:p>
          <a:p>
            <a:pPr marL="381000" marR="0" lvl="0" indent="-381000" algn="l" rtl="0">
              <a:spcBef>
                <a:spcPts val="0"/>
              </a:spcBef>
              <a:spcAft>
                <a:spcPts val="0"/>
              </a:spcAft>
              <a:buNone/>
            </a:pPr>
            <a:endParaRPr sz="2800" b="1">
              <a:solidFill>
                <a:schemeClr val="dk1"/>
              </a:solidFill>
              <a:latin typeface="Arial"/>
              <a:ea typeface="Arial"/>
              <a:cs typeface="Arial"/>
              <a:sym typeface="Arial"/>
            </a:endParaRPr>
          </a:p>
          <a:p>
            <a:pPr marL="381000" marR="0" lvl="0" indent="-381000" algn="l" rtl="0">
              <a:spcBef>
                <a:spcPts val="0"/>
              </a:spcBef>
              <a:spcAft>
                <a:spcPts val="0"/>
              </a:spcAft>
              <a:buNone/>
            </a:pPr>
            <a:r>
              <a:rPr lang="en-US" sz="2800" b="1">
                <a:solidFill>
                  <a:schemeClr val="dk1"/>
                </a:solidFill>
                <a:latin typeface="Arial"/>
                <a:ea typeface="Arial"/>
                <a:cs typeface="Arial"/>
                <a:sym typeface="Arial"/>
              </a:rPr>
              <a:t>Text</a:t>
            </a:r>
            <a:endParaRPr sz="2800">
              <a:solidFill>
                <a:schemeClr val="dk1"/>
              </a:solidFill>
              <a:latin typeface="Arial"/>
              <a:ea typeface="Arial"/>
              <a:cs typeface="Arial"/>
              <a:sym typeface="Arial"/>
            </a:endParaRPr>
          </a:p>
          <a:p>
            <a:pPr marL="381000" marR="0" lvl="0" indent="-381000" algn="l" rtl="0">
              <a:spcBef>
                <a:spcPts val="0"/>
              </a:spcBef>
              <a:spcAft>
                <a:spcPts val="0"/>
              </a:spcAft>
              <a:buNone/>
            </a:pPr>
            <a:r>
              <a:rPr lang="en-US" sz="2800">
                <a:solidFill>
                  <a:schemeClr val="dk1"/>
                </a:solidFill>
                <a:latin typeface="Arial"/>
                <a:ea typeface="Arial"/>
                <a:cs typeface="Arial"/>
                <a:sym typeface="Arial"/>
              </a:rPr>
              <a:t>Be sure to spell check all text and have trusted colleagues proofread the poster. In general, </a:t>
            </a:r>
            <a:br>
              <a:rPr lang="en-US" sz="2800">
                <a:solidFill>
                  <a:schemeClr val="dk1"/>
                </a:solidFill>
                <a:latin typeface="Arial"/>
                <a:ea typeface="Arial"/>
                <a:cs typeface="Arial"/>
                <a:sym typeface="Arial"/>
              </a:rPr>
            </a:br>
            <a:r>
              <a:rPr lang="en-US" sz="2800">
                <a:solidFill>
                  <a:schemeClr val="dk1"/>
                </a:solidFill>
                <a:latin typeface="Arial"/>
                <a:ea typeface="Arial"/>
                <a:cs typeface="Arial"/>
                <a:sym typeface="Arial"/>
              </a:rPr>
              <a:t>authors should:</a:t>
            </a:r>
            <a:endParaRPr/>
          </a:p>
          <a:p>
            <a:pPr marL="381000" marR="0" lvl="0" indent="-381000" algn="l" rtl="0">
              <a:spcBef>
                <a:spcPts val="0"/>
              </a:spcBef>
              <a:spcAft>
                <a:spcPts val="0"/>
              </a:spcAft>
              <a:buNone/>
            </a:pPr>
            <a:r>
              <a:rPr lang="en-US" sz="2800">
                <a:solidFill>
                  <a:schemeClr val="dk1"/>
                </a:solidFill>
                <a:latin typeface="Arial"/>
                <a:ea typeface="Arial"/>
                <a:cs typeface="Arial"/>
                <a:sym typeface="Arial"/>
              </a:rPr>
              <a:t> </a:t>
            </a:r>
            <a:endParaRPr/>
          </a:p>
          <a:p>
            <a:pPr marL="381000" marR="0" lvl="0" indent="-381000" algn="l" rtl="0">
              <a:spcBef>
                <a:spcPts val="0"/>
              </a:spcBef>
              <a:spcAft>
                <a:spcPts val="0"/>
              </a:spcAft>
              <a:buNone/>
            </a:pPr>
            <a:r>
              <a:rPr lang="en-US" sz="2800">
                <a:solidFill>
                  <a:schemeClr val="dk1"/>
                </a:solidFill>
                <a:latin typeface="Arial"/>
                <a:ea typeface="Arial"/>
                <a:cs typeface="Arial"/>
                <a:sym typeface="Arial"/>
              </a:rPr>
              <a:t>• Use the active tense</a:t>
            </a:r>
            <a:endParaRPr/>
          </a:p>
          <a:p>
            <a:pPr marL="381000" marR="0" lvl="0" indent="-381000" algn="l" rtl="0">
              <a:spcBef>
                <a:spcPts val="0"/>
              </a:spcBef>
              <a:spcAft>
                <a:spcPts val="0"/>
              </a:spcAft>
              <a:buNone/>
            </a:pPr>
            <a:r>
              <a:rPr lang="en-US" sz="2800">
                <a:solidFill>
                  <a:schemeClr val="dk1"/>
                </a:solidFill>
                <a:latin typeface="Arial"/>
                <a:ea typeface="Arial"/>
                <a:cs typeface="Arial"/>
                <a:sym typeface="Arial"/>
              </a:rPr>
              <a:t>• Simplify text by using bullet points</a:t>
            </a:r>
            <a:endParaRPr/>
          </a:p>
          <a:p>
            <a:pPr marL="381000" marR="0" lvl="0" indent="-381000" algn="l" rtl="0">
              <a:spcBef>
                <a:spcPts val="0"/>
              </a:spcBef>
              <a:spcAft>
                <a:spcPts val="0"/>
              </a:spcAft>
              <a:buNone/>
            </a:pPr>
            <a:r>
              <a:rPr lang="en-US" sz="2800">
                <a:solidFill>
                  <a:schemeClr val="dk1"/>
                </a:solidFill>
                <a:latin typeface="Arial"/>
                <a:ea typeface="Arial"/>
                <a:cs typeface="Arial"/>
                <a:sym typeface="Arial"/>
              </a:rPr>
              <a:t>• Use colored graphs and charts</a:t>
            </a:r>
            <a:endParaRPr/>
          </a:p>
          <a:p>
            <a:pPr marL="381000" marR="0" lvl="0" indent="-381000" algn="l" rtl="0">
              <a:spcBef>
                <a:spcPts val="0"/>
              </a:spcBef>
              <a:spcAft>
                <a:spcPts val="0"/>
              </a:spcAft>
              <a:buNone/>
            </a:pPr>
            <a:r>
              <a:rPr lang="en-US" sz="2800">
                <a:solidFill>
                  <a:schemeClr val="dk1"/>
                </a:solidFill>
                <a:latin typeface="Arial"/>
                <a:ea typeface="Arial"/>
                <a:cs typeface="Arial"/>
                <a:sym typeface="Arial"/>
              </a:rPr>
              <a:t>• Use bold to provide emphasis; avoid capitals </a:t>
            </a:r>
            <a:br>
              <a:rPr lang="en-US" sz="2800">
                <a:solidFill>
                  <a:schemeClr val="dk1"/>
                </a:solidFill>
                <a:latin typeface="Arial"/>
                <a:ea typeface="Arial"/>
                <a:cs typeface="Arial"/>
                <a:sym typeface="Arial"/>
              </a:rPr>
            </a:br>
            <a:r>
              <a:rPr lang="en-US" sz="2800">
                <a:solidFill>
                  <a:schemeClr val="dk1"/>
                </a:solidFill>
                <a:latin typeface="Arial"/>
                <a:ea typeface="Arial"/>
                <a:cs typeface="Arial"/>
                <a:sym typeface="Arial"/>
              </a:rPr>
              <a:t>  and underlining</a:t>
            </a:r>
            <a:endParaRPr/>
          </a:p>
          <a:p>
            <a:pPr marL="381000" marR="0" lvl="0" indent="-381000" algn="l" rtl="0">
              <a:spcBef>
                <a:spcPts val="0"/>
              </a:spcBef>
              <a:spcAft>
                <a:spcPts val="0"/>
              </a:spcAft>
              <a:buNone/>
            </a:pPr>
            <a:r>
              <a:rPr lang="en-US" sz="2800">
                <a:solidFill>
                  <a:schemeClr val="dk1"/>
                </a:solidFill>
                <a:latin typeface="Arial"/>
                <a:ea typeface="Arial"/>
                <a:cs typeface="Arial"/>
                <a:sym typeface="Arial"/>
              </a:rPr>
              <a:t>• Avoid long numerical tables</a:t>
            </a:r>
            <a:endParaRPr/>
          </a:p>
          <a:p>
            <a:pPr marL="381000" marR="0" lvl="0" indent="-381000" algn="l" rtl="0">
              <a:spcBef>
                <a:spcPts val="0"/>
              </a:spcBef>
              <a:spcAft>
                <a:spcPts val="0"/>
              </a:spcAft>
              <a:buNone/>
            </a:pPr>
            <a:r>
              <a:rPr lang="en-US" sz="2800">
                <a:solidFill>
                  <a:schemeClr val="dk1"/>
                </a:solidFill>
                <a:latin typeface="Arial"/>
                <a:ea typeface="Arial"/>
                <a:cs typeface="Arial"/>
                <a:sym typeface="Arial"/>
              </a:rPr>
              <a:t> </a:t>
            </a:r>
            <a:endParaRPr/>
          </a:p>
          <a:p>
            <a:pPr marL="381000" marR="0" lvl="0" indent="-381000" algn="l" rtl="0">
              <a:spcBef>
                <a:spcPts val="0"/>
              </a:spcBef>
              <a:spcAft>
                <a:spcPts val="0"/>
              </a:spcAft>
              <a:buNone/>
            </a:pPr>
            <a:r>
              <a:rPr lang="en-US" sz="2800">
                <a:solidFill>
                  <a:schemeClr val="dk1"/>
                </a:solidFill>
                <a:latin typeface="Arial"/>
                <a:ea typeface="Arial"/>
                <a:cs typeface="Arial"/>
                <a:sym typeface="Arial"/>
              </a:rPr>
              <a:t>Authors should rewrite their paper so that it is suitable for the brevity of the poster format. Respect your audience–as a general rule, less is more. Use a generous amount of white space to separate elements and avoid data overkill. Refer to Web sites or other sources to provide a more in-depth understanding of the research.</a:t>
            </a:r>
            <a:endParaRPr/>
          </a:p>
        </p:txBody>
      </p:sp>
      <p:sp>
        <p:nvSpPr>
          <p:cNvPr id="57" name="Google Shape;57;p2"/>
          <p:cNvSpPr/>
          <p:nvPr/>
        </p:nvSpPr>
        <p:spPr>
          <a:xfrm>
            <a:off x="22326600" y="5181600"/>
            <a:ext cx="9829800" cy="26746200"/>
          </a:xfrm>
          <a:prstGeom prst="rect">
            <a:avLst/>
          </a:prstGeom>
          <a:solidFill>
            <a:schemeClr val="lt1"/>
          </a:solidFill>
          <a:ln>
            <a:noFill/>
          </a:ln>
        </p:spPr>
        <p:txBody>
          <a:bodyPr spcFirstLastPara="1" wrap="square" lIns="360000" tIns="360000" rIns="360000" bIns="360000" anchor="t" anchorCtr="0">
            <a:noAutofit/>
          </a:bodyPr>
          <a:lstStyle/>
          <a:p>
            <a:pPr marL="0" marR="0" lvl="0" indent="0" algn="l" rtl="0">
              <a:spcBef>
                <a:spcPts val="0"/>
              </a:spcBef>
              <a:spcAft>
                <a:spcPts val="0"/>
              </a:spcAft>
              <a:buNone/>
            </a:pPr>
            <a:r>
              <a:rPr lang="en-US" sz="4000" b="1" u="sng">
                <a:solidFill>
                  <a:srgbClr val="131F33"/>
                </a:solidFill>
                <a:latin typeface="Arial"/>
                <a:ea typeface="Arial"/>
                <a:cs typeface="Arial"/>
                <a:sym typeface="Arial"/>
              </a:rPr>
              <a:t>RESULTS</a:t>
            </a:r>
            <a:endParaRPr sz="4000" b="1">
              <a:solidFill>
                <a:srgbClr val="131F33"/>
              </a:solidFill>
              <a:latin typeface="Arial"/>
              <a:ea typeface="Arial"/>
              <a:cs typeface="Arial"/>
              <a:sym typeface="Arial"/>
            </a:endParaRPr>
          </a:p>
          <a:p>
            <a:pPr marL="0" marR="0" lvl="0" indent="0" algn="l" rtl="0">
              <a:spcBef>
                <a:spcPts val="0"/>
              </a:spcBef>
              <a:spcAft>
                <a:spcPts val="0"/>
              </a:spcAft>
              <a:buNone/>
            </a:pPr>
            <a:endParaRPr sz="2800">
              <a:solidFill>
                <a:schemeClr val="dk1"/>
              </a:solidFill>
              <a:latin typeface="Arial"/>
              <a:ea typeface="Arial"/>
              <a:cs typeface="Arial"/>
              <a:sym typeface="Arial"/>
            </a:endParaRPr>
          </a:p>
          <a:p>
            <a:pPr marL="0" marR="0" lvl="0" indent="0" algn="l" rtl="0">
              <a:spcBef>
                <a:spcPts val="0"/>
              </a:spcBef>
              <a:spcAft>
                <a:spcPts val="0"/>
              </a:spcAft>
              <a:buNone/>
            </a:pPr>
            <a:r>
              <a:rPr lang="en-US" sz="2800" b="1">
                <a:solidFill>
                  <a:schemeClr val="dk1"/>
                </a:solidFill>
                <a:latin typeface="Arial"/>
                <a:ea typeface="Arial"/>
                <a:cs typeface="Arial"/>
                <a:sym typeface="Arial"/>
              </a:rPr>
              <a:t>Images</a:t>
            </a:r>
            <a:endParaRPr sz="2800">
              <a:solidFill>
                <a:schemeClr val="dk1"/>
              </a:solidFill>
              <a:latin typeface="Arial"/>
              <a:ea typeface="Arial"/>
              <a:cs typeface="Arial"/>
              <a:sym typeface="Arial"/>
            </a:endParaRPr>
          </a:p>
          <a:p>
            <a:pPr marL="0" marR="0" lvl="0" indent="0" algn="l" rtl="0">
              <a:spcBef>
                <a:spcPts val="0"/>
              </a:spcBef>
              <a:spcAft>
                <a:spcPts val="0"/>
              </a:spcAft>
              <a:buNone/>
            </a:pPr>
            <a:r>
              <a:rPr lang="en-US" sz="2800">
                <a:solidFill>
                  <a:schemeClr val="dk1"/>
                </a:solidFill>
                <a:latin typeface="Arial"/>
                <a:ea typeface="Arial"/>
                <a:cs typeface="Arial"/>
                <a:sym typeface="Arial"/>
              </a:rPr>
              <a:t>Avoid the use of low-resolution images, especially those downloaded from the Internet, as they will reproduce poorly.</a:t>
            </a:r>
            <a:endParaRPr/>
          </a:p>
          <a:p>
            <a:pPr marL="0" marR="0" lvl="0" indent="0" algn="l" rtl="0">
              <a:spcBef>
                <a:spcPts val="0"/>
              </a:spcBef>
              <a:spcAft>
                <a:spcPts val="0"/>
              </a:spcAft>
              <a:buNone/>
            </a:pPr>
            <a:r>
              <a:rPr lang="en-US" sz="2800">
                <a:solidFill>
                  <a:schemeClr val="dk1"/>
                </a:solidFill>
                <a:latin typeface="Arial"/>
                <a:ea typeface="Arial"/>
                <a:cs typeface="Arial"/>
                <a:sym typeface="Arial"/>
              </a:rPr>
              <a:t> </a:t>
            </a:r>
            <a:endParaRPr/>
          </a:p>
          <a:p>
            <a:pPr marL="0" marR="0" lvl="0" indent="0" algn="l" rtl="0">
              <a:spcBef>
                <a:spcPts val="0"/>
              </a:spcBef>
              <a:spcAft>
                <a:spcPts val="0"/>
              </a:spcAft>
              <a:buNone/>
            </a:pPr>
            <a:r>
              <a:rPr lang="en-US" sz="2800">
                <a:solidFill>
                  <a:schemeClr val="dk1"/>
                </a:solidFill>
                <a:latin typeface="Arial"/>
                <a:ea typeface="Arial"/>
                <a:cs typeface="Arial"/>
                <a:sym typeface="Arial"/>
              </a:rPr>
              <a:t>In order to insert an image, use the menu toolbar at the top of your screen. </a:t>
            </a:r>
            <a:endParaRPr/>
          </a:p>
          <a:p>
            <a:pPr marL="0" marR="0" lvl="0" indent="0" algn="l" rtl="0">
              <a:spcBef>
                <a:spcPts val="0"/>
              </a:spcBef>
              <a:spcAft>
                <a:spcPts val="0"/>
              </a:spcAft>
              <a:buNone/>
            </a:pPr>
            <a:endParaRPr sz="2800">
              <a:solidFill>
                <a:schemeClr val="dk1"/>
              </a:solidFill>
              <a:latin typeface="Arial"/>
              <a:ea typeface="Arial"/>
              <a:cs typeface="Arial"/>
              <a:sym typeface="Arial"/>
            </a:endParaRPr>
          </a:p>
          <a:p>
            <a:pPr marL="0" marR="0" lvl="0" indent="0" algn="l" rtl="0">
              <a:spcBef>
                <a:spcPts val="0"/>
              </a:spcBef>
              <a:spcAft>
                <a:spcPts val="0"/>
              </a:spcAft>
              <a:buNone/>
            </a:pPr>
            <a:r>
              <a:rPr lang="en-US" sz="2800">
                <a:solidFill>
                  <a:schemeClr val="dk1"/>
                </a:solidFill>
                <a:latin typeface="Arial"/>
                <a:ea typeface="Arial"/>
                <a:cs typeface="Arial"/>
                <a:sym typeface="Arial"/>
              </a:rPr>
              <a:t>Select:</a:t>
            </a:r>
            <a:endParaRPr/>
          </a:p>
          <a:p>
            <a:pPr marL="0" marR="0" lvl="0" indent="0" algn="l" rtl="0">
              <a:spcBef>
                <a:spcPts val="0"/>
              </a:spcBef>
              <a:spcAft>
                <a:spcPts val="0"/>
              </a:spcAft>
              <a:buNone/>
            </a:pPr>
            <a:r>
              <a:rPr lang="en-US" sz="2800">
                <a:solidFill>
                  <a:schemeClr val="dk1"/>
                </a:solidFill>
                <a:latin typeface="Arial"/>
                <a:ea typeface="Arial"/>
                <a:cs typeface="Arial"/>
                <a:sym typeface="Arial"/>
              </a:rPr>
              <a:t>1  Insert</a:t>
            </a:r>
            <a:endParaRPr/>
          </a:p>
          <a:p>
            <a:pPr marL="0" marR="0" lvl="0" indent="0" algn="l" rtl="0">
              <a:spcBef>
                <a:spcPts val="0"/>
              </a:spcBef>
              <a:spcAft>
                <a:spcPts val="0"/>
              </a:spcAft>
              <a:buNone/>
            </a:pPr>
            <a:r>
              <a:rPr lang="en-US" sz="2800">
                <a:solidFill>
                  <a:schemeClr val="dk1"/>
                </a:solidFill>
                <a:latin typeface="Arial"/>
                <a:ea typeface="Arial"/>
                <a:cs typeface="Arial"/>
                <a:sym typeface="Arial"/>
              </a:rPr>
              <a:t>2  Picture</a:t>
            </a:r>
            <a:endParaRPr/>
          </a:p>
          <a:p>
            <a:pPr marL="0" marR="0" lvl="0" indent="0" algn="l" rtl="0">
              <a:spcBef>
                <a:spcPts val="0"/>
              </a:spcBef>
              <a:spcAft>
                <a:spcPts val="0"/>
              </a:spcAft>
              <a:buNone/>
            </a:pPr>
            <a:r>
              <a:rPr lang="en-US" sz="2800">
                <a:solidFill>
                  <a:schemeClr val="dk1"/>
                </a:solidFill>
                <a:latin typeface="Arial"/>
                <a:ea typeface="Arial"/>
                <a:cs typeface="Arial"/>
                <a:sym typeface="Arial"/>
              </a:rPr>
              <a:t>3  From file </a:t>
            </a:r>
            <a:endParaRPr/>
          </a:p>
          <a:p>
            <a:pPr marL="0" marR="0" lvl="0" indent="0" algn="l" rtl="0">
              <a:spcBef>
                <a:spcPts val="0"/>
              </a:spcBef>
              <a:spcAft>
                <a:spcPts val="0"/>
              </a:spcAft>
              <a:buNone/>
            </a:pPr>
            <a:r>
              <a:rPr lang="en-US" sz="2800">
                <a:solidFill>
                  <a:schemeClr val="dk1"/>
                </a:solidFill>
                <a:latin typeface="Arial"/>
                <a:ea typeface="Arial"/>
                <a:cs typeface="Arial"/>
                <a:sym typeface="Arial"/>
              </a:rPr>
              <a:t>4  Find and select the correct file on your computer</a:t>
            </a:r>
            <a:endParaRPr/>
          </a:p>
          <a:p>
            <a:pPr marL="0" marR="0" lvl="0" indent="0" algn="l" rtl="0">
              <a:spcBef>
                <a:spcPts val="0"/>
              </a:spcBef>
              <a:spcAft>
                <a:spcPts val="0"/>
              </a:spcAft>
              <a:buNone/>
            </a:pPr>
            <a:r>
              <a:rPr lang="en-US" sz="2800">
                <a:solidFill>
                  <a:schemeClr val="dk1"/>
                </a:solidFill>
                <a:latin typeface="Arial"/>
                <a:ea typeface="Arial"/>
                <a:cs typeface="Arial"/>
                <a:sym typeface="Arial"/>
              </a:rPr>
              <a:t>5  Press OK</a:t>
            </a:r>
            <a:endParaRPr/>
          </a:p>
          <a:p>
            <a:pPr marL="0" marR="0" lvl="0" indent="0" algn="l" rtl="0">
              <a:spcBef>
                <a:spcPts val="0"/>
              </a:spcBef>
              <a:spcAft>
                <a:spcPts val="0"/>
              </a:spcAft>
              <a:buNone/>
            </a:pPr>
            <a:r>
              <a:rPr lang="en-US" sz="2800">
                <a:solidFill>
                  <a:schemeClr val="dk1"/>
                </a:solidFill>
                <a:latin typeface="Arial"/>
                <a:ea typeface="Arial"/>
                <a:cs typeface="Arial"/>
                <a:sym typeface="Arial"/>
              </a:rPr>
              <a:t> </a:t>
            </a:r>
            <a:endParaRPr/>
          </a:p>
          <a:p>
            <a:pPr marL="0" marR="0" lvl="0" indent="0" algn="l" rtl="0">
              <a:spcBef>
                <a:spcPts val="0"/>
              </a:spcBef>
              <a:spcAft>
                <a:spcPts val="0"/>
              </a:spcAft>
              <a:buNone/>
            </a:pPr>
            <a:r>
              <a:rPr lang="en-US" sz="2800">
                <a:solidFill>
                  <a:schemeClr val="dk1"/>
                </a:solidFill>
                <a:latin typeface="Arial"/>
                <a:ea typeface="Arial"/>
                <a:cs typeface="Arial"/>
                <a:sym typeface="Arial"/>
              </a:rPr>
              <a:t>Be aware of the image size you are importing.  </a:t>
            </a:r>
            <a:endParaRPr/>
          </a:p>
          <a:p>
            <a:pPr marL="0" marR="0" lvl="0" indent="0" algn="l" rtl="0">
              <a:spcBef>
                <a:spcPts val="2000"/>
              </a:spcBef>
              <a:spcAft>
                <a:spcPts val="0"/>
              </a:spcAft>
              <a:buNone/>
            </a:pPr>
            <a:endParaRPr sz="4000" b="1">
              <a:solidFill>
                <a:srgbClr val="CC3300"/>
              </a:solidFill>
              <a:latin typeface="Arial"/>
              <a:ea typeface="Arial"/>
              <a:cs typeface="Arial"/>
              <a:sym typeface="Arial"/>
            </a:endParaRPr>
          </a:p>
        </p:txBody>
      </p:sp>
      <p:sp>
        <p:nvSpPr>
          <p:cNvPr id="58" name="Google Shape;58;p2"/>
          <p:cNvSpPr/>
          <p:nvPr/>
        </p:nvSpPr>
        <p:spPr>
          <a:xfrm>
            <a:off x="32918400" y="5181600"/>
            <a:ext cx="9829800" cy="12192000"/>
          </a:xfrm>
          <a:prstGeom prst="rect">
            <a:avLst/>
          </a:prstGeom>
          <a:solidFill>
            <a:schemeClr val="lt1"/>
          </a:solidFill>
          <a:ln>
            <a:noFill/>
          </a:ln>
        </p:spPr>
        <p:txBody>
          <a:bodyPr spcFirstLastPara="1" wrap="square" lIns="360000" tIns="360000" rIns="360000" bIns="360000" anchor="t" anchorCtr="0">
            <a:noAutofit/>
          </a:bodyPr>
          <a:lstStyle/>
          <a:p>
            <a:pPr marL="0" marR="0" lvl="0" indent="0" algn="l" rtl="0">
              <a:spcBef>
                <a:spcPts val="0"/>
              </a:spcBef>
              <a:spcAft>
                <a:spcPts val="0"/>
              </a:spcAft>
              <a:buNone/>
            </a:pPr>
            <a:endParaRPr sz="2800">
              <a:solidFill>
                <a:schemeClr val="dk1"/>
              </a:solidFill>
              <a:latin typeface="Arial"/>
              <a:ea typeface="Arial"/>
              <a:cs typeface="Arial"/>
              <a:sym typeface="Arial"/>
            </a:endParaRPr>
          </a:p>
        </p:txBody>
      </p:sp>
      <p:sp>
        <p:nvSpPr>
          <p:cNvPr id="59" name="Google Shape;59;p2"/>
          <p:cNvSpPr/>
          <p:nvPr/>
        </p:nvSpPr>
        <p:spPr>
          <a:xfrm>
            <a:off x="32904113" y="18059400"/>
            <a:ext cx="9829800" cy="6248400"/>
          </a:xfrm>
          <a:prstGeom prst="rect">
            <a:avLst/>
          </a:prstGeom>
          <a:solidFill>
            <a:schemeClr val="lt1"/>
          </a:solidFill>
          <a:ln>
            <a:noFill/>
          </a:ln>
        </p:spPr>
        <p:txBody>
          <a:bodyPr spcFirstLastPara="1" wrap="square" lIns="360000" tIns="360000" rIns="360000" bIns="360000" anchor="t" anchorCtr="0">
            <a:noAutofit/>
          </a:bodyPr>
          <a:lstStyle/>
          <a:p>
            <a:pPr marL="0" marR="0" lvl="0" indent="0" algn="l" rtl="0">
              <a:spcBef>
                <a:spcPts val="0"/>
              </a:spcBef>
              <a:spcAft>
                <a:spcPts val="0"/>
              </a:spcAft>
              <a:buNone/>
            </a:pPr>
            <a:r>
              <a:rPr lang="en-US" sz="4000" b="1" u="sng">
                <a:solidFill>
                  <a:srgbClr val="131F33"/>
                </a:solidFill>
                <a:latin typeface="Arial"/>
                <a:ea typeface="Arial"/>
                <a:cs typeface="Arial"/>
                <a:sym typeface="Arial"/>
              </a:rPr>
              <a:t>CONCLUSIONS</a:t>
            </a:r>
            <a:endParaRPr/>
          </a:p>
          <a:p>
            <a:pPr marL="0" marR="0" lvl="0" indent="0" algn="l" rtl="0">
              <a:spcBef>
                <a:spcPts val="0"/>
              </a:spcBef>
              <a:spcAft>
                <a:spcPts val="0"/>
              </a:spcAft>
              <a:buNone/>
            </a:pPr>
            <a:endParaRPr sz="2800">
              <a:solidFill>
                <a:schemeClr val="dk1"/>
              </a:solidFill>
              <a:latin typeface="Arial"/>
              <a:ea typeface="Arial"/>
              <a:cs typeface="Arial"/>
              <a:sym typeface="Arial"/>
            </a:endParaRPr>
          </a:p>
          <a:p>
            <a:pPr marL="0" marR="0" lvl="0" indent="0" algn="l" rtl="0">
              <a:spcBef>
                <a:spcPts val="0"/>
              </a:spcBef>
              <a:spcAft>
                <a:spcPts val="0"/>
              </a:spcAft>
              <a:buNone/>
            </a:pPr>
            <a:r>
              <a:rPr lang="en-US" sz="2800">
                <a:solidFill>
                  <a:schemeClr val="dk1"/>
                </a:solidFill>
                <a:latin typeface="Arial"/>
                <a:ea typeface="Arial"/>
                <a:cs typeface="Arial"/>
                <a:sym typeface="Arial"/>
              </a:rPr>
              <a:t>We have created this template with scientific researchers in mind and with the help of feedback we have received.  We encourage any comments or suggestions so that we can continue to update and improve this template. To make a suggestion contact:</a:t>
            </a:r>
            <a:endParaRPr/>
          </a:p>
        </p:txBody>
      </p:sp>
      <p:sp>
        <p:nvSpPr>
          <p:cNvPr id="60" name="Google Shape;60;p2"/>
          <p:cNvSpPr/>
          <p:nvPr/>
        </p:nvSpPr>
        <p:spPr>
          <a:xfrm>
            <a:off x="22783800" y="26276300"/>
            <a:ext cx="8915400" cy="3598800"/>
          </a:xfrm>
          <a:prstGeom prst="rect">
            <a:avLst/>
          </a:prstGeom>
          <a:solidFill>
            <a:srgbClr val="EEEEEE"/>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8600">
              <a:solidFill>
                <a:schemeClr val="dk1"/>
              </a:solidFill>
              <a:latin typeface="Arial"/>
              <a:ea typeface="Arial"/>
              <a:cs typeface="Arial"/>
              <a:sym typeface="Arial"/>
            </a:endParaRPr>
          </a:p>
        </p:txBody>
      </p:sp>
      <p:sp>
        <p:nvSpPr>
          <p:cNvPr id="61" name="Google Shape;61;p2"/>
          <p:cNvSpPr txBox="1"/>
          <p:nvPr/>
        </p:nvSpPr>
        <p:spPr>
          <a:xfrm>
            <a:off x="22783800" y="29994225"/>
            <a:ext cx="8915400" cy="1323900"/>
          </a:xfrm>
          <a:prstGeom prst="rect">
            <a:avLst/>
          </a:prstGeom>
          <a:noFill/>
          <a:ln>
            <a:noFill/>
          </a:ln>
        </p:spPr>
        <p:txBody>
          <a:bodyPr spcFirstLastPara="1" wrap="square" lIns="0" tIns="45700" rIns="0" bIns="45700" anchor="t" anchorCtr="0">
            <a:spAutoFit/>
          </a:bodyPr>
          <a:lstStyle/>
          <a:p>
            <a:pPr marL="0" marR="0" lvl="0" indent="0" algn="l" rtl="0">
              <a:spcBef>
                <a:spcPts val="0"/>
              </a:spcBef>
              <a:spcAft>
                <a:spcPts val="0"/>
              </a:spcAft>
              <a:buNone/>
            </a:pPr>
            <a:r>
              <a:rPr lang="en-US" sz="2000" i="1">
                <a:solidFill>
                  <a:schemeClr val="dk1"/>
                </a:solidFill>
                <a:latin typeface="Arial"/>
                <a:ea typeface="Arial"/>
                <a:cs typeface="Arial"/>
                <a:sym typeface="Arial"/>
              </a:rPr>
              <a:t>Captions set in a serif style font such as Times, 18 to 24 size, italic style. </a:t>
            </a:r>
            <a:endParaRPr/>
          </a:p>
          <a:p>
            <a:pPr marL="0" marR="0" lvl="0" indent="0" algn="l" rtl="0">
              <a:spcBef>
                <a:spcPts val="0"/>
              </a:spcBef>
              <a:spcAft>
                <a:spcPts val="0"/>
              </a:spcAft>
              <a:buNone/>
            </a:pPr>
            <a:endParaRPr sz="2000" i="1">
              <a:solidFill>
                <a:schemeClr val="dk1"/>
              </a:solidFill>
              <a:latin typeface="Arial"/>
              <a:ea typeface="Arial"/>
              <a:cs typeface="Arial"/>
              <a:sym typeface="Arial"/>
            </a:endParaRPr>
          </a:p>
          <a:p>
            <a:pPr marL="0" marR="0" lvl="0" indent="0" algn="l" rtl="0">
              <a:spcBef>
                <a:spcPts val="0"/>
              </a:spcBef>
              <a:spcAft>
                <a:spcPts val="0"/>
              </a:spcAft>
              <a:buNone/>
            </a:pPr>
            <a:r>
              <a:rPr lang="en-US" sz="2000" i="1">
                <a:solidFill>
                  <a:schemeClr val="dk1"/>
                </a:solidFill>
                <a:latin typeface="Arial"/>
                <a:ea typeface="Arial"/>
                <a:cs typeface="Arial"/>
                <a:sym typeface="Arial"/>
              </a:rPr>
              <a:t>Duis autem vel eum iriure dolor in hendrerit in vulputate velit esse molestie consequat.</a:t>
            </a:r>
            <a:endParaRPr sz="2000" i="1">
              <a:solidFill>
                <a:schemeClr val="dk1"/>
              </a:solidFill>
              <a:latin typeface="Arial"/>
              <a:ea typeface="Arial"/>
              <a:cs typeface="Arial"/>
              <a:sym typeface="Arial"/>
            </a:endParaRPr>
          </a:p>
        </p:txBody>
      </p:sp>
      <p:sp>
        <p:nvSpPr>
          <p:cNvPr id="62" name="Google Shape;62;p2"/>
          <p:cNvSpPr/>
          <p:nvPr/>
        </p:nvSpPr>
        <p:spPr>
          <a:xfrm>
            <a:off x="22783800" y="21996400"/>
            <a:ext cx="5399100" cy="3598800"/>
          </a:xfrm>
          <a:prstGeom prst="rect">
            <a:avLst/>
          </a:prstGeom>
          <a:solidFill>
            <a:srgbClr val="EEEEEE"/>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8600">
              <a:solidFill>
                <a:schemeClr val="dk1"/>
              </a:solidFill>
              <a:latin typeface="Arial"/>
              <a:ea typeface="Arial"/>
              <a:cs typeface="Arial"/>
              <a:sym typeface="Arial"/>
            </a:endParaRPr>
          </a:p>
        </p:txBody>
      </p:sp>
      <p:sp>
        <p:nvSpPr>
          <p:cNvPr id="63" name="Google Shape;63;p2"/>
          <p:cNvSpPr txBox="1"/>
          <p:nvPr/>
        </p:nvSpPr>
        <p:spPr>
          <a:xfrm>
            <a:off x="28194000" y="21790025"/>
            <a:ext cx="3505200" cy="2825700"/>
          </a:xfrm>
          <a:prstGeom prst="rect">
            <a:avLst/>
          </a:prstGeom>
          <a:noFill/>
          <a:ln>
            <a:noFill/>
          </a:ln>
        </p:spPr>
        <p:txBody>
          <a:bodyPr spcFirstLastPara="1" wrap="square" lIns="180000" tIns="180000" rIns="180000" bIns="180000" anchor="t" anchorCtr="0">
            <a:spAutoFit/>
          </a:bodyPr>
          <a:lstStyle/>
          <a:p>
            <a:pPr marL="0" marR="0" lvl="0" indent="0" algn="l" rtl="0">
              <a:spcBef>
                <a:spcPts val="0"/>
              </a:spcBef>
              <a:spcAft>
                <a:spcPts val="0"/>
              </a:spcAft>
              <a:buNone/>
            </a:pPr>
            <a:r>
              <a:rPr lang="en-US" sz="2000" i="1">
                <a:solidFill>
                  <a:schemeClr val="dk1"/>
                </a:solidFill>
                <a:latin typeface="Arial"/>
                <a:ea typeface="Arial"/>
                <a:cs typeface="Arial"/>
                <a:sym typeface="Arial"/>
              </a:rPr>
              <a:t>Captions set in a serif style font such as Times, 18 to 24 size, italic style. </a:t>
            </a:r>
            <a:endParaRPr/>
          </a:p>
          <a:p>
            <a:pPr marL="0" marR="0" lvl="0" indent="0" algn="l" rtl="0">
              <a:spcBef>
                <a:spcPts val="0"/>
              </a:spcBef>
              <a:spcAft>
                <a:spcPts val="0"/>
              </a:spcAft>
              <a:buNone/>
            </a:pPr>
            <a:endParaRPr sz="2000" i="1">
              <a:solidFill>
                <a:schemeClr val="dk1"/>
              </a:solidFill>
              <a:latin typeface="Arial"/>
              <a:ea typeface="Arial"/>
              <a:cs typeface="Arial"/>
              <a:sym typeface="Arial"/>
            </a:endParaRPr>
          </a:p>
          <a:p>
            <a:pPr marL="0" marR="0" lvl="0" indent="0" algn="l" rtl="0">
              <a:spcBef>
                <a:spcPts val="0"/>
              </a:spcBef>
              <a:spcAft>
                <a:spcPts val="0"/>
              </a:spcAft>
              <a:buNone/>
            </a:pPr>
            <a:r>
              <a:rPr lang="en-US" sz="2000" i="1">
                <a:solidFill>
                  <a:schemeClr val="dk1"/>
                </a:solidFill>
                <a:latin typeface="Arial"/>
                <a:ea typeface="Arial"/>
                <a:cs typeface="Arial"/>
                <a:sym typeface="Arial"/>
              </a:rPr>
              <a:t>Duis autem vel eum iriure dolor in hendrerit in vulputate velit esse molestie consequat.</a:t>
            </a:r>
            <a:endParaRPr sz="2000" i="1">
              <a:solidFill>
                <a:schemeClr val="dk1"/>
              </a:solidFill>
              <a:latin typeface="Arial"/>
              <a:ea typeface="Arial"/>
              <a:cs typeface="Arial"/>
              <a:sym typeface="Arial"/>
            </a:endParaRPr>
          </a:p>
        </p:txBody>
      </p:sp>
      <p:sp>
        <p:nvSpPr>
          <p:cNvPr id="64" name="Google Shape;64;p2"/>
          <p:cNvSpPr txBox="1"/>
          <p:nvPr/>
        </p:nvSpPr>
        <p:spPr>
          <a:xfrm>
            <a:off x="12192000" y="21767800"/>
            <a:ext cx="3505200" cy="2825700"/>
          </a:xfrm>
          <a:prstGeom prst="rect">
            <a:avLst/>
          </a:prstGeom>
          <a:noFill/>
          <a:ln>
            <a:noFill/>
          </a:ln>
        </p:spPr>
        <p:txBody>
          <a:bodyPr spcFirstLastPara="1" wrap="square" lIns="180000" tIns="180000" rIns="180000" bIns="180000" anchor="t" anchorCtr="0">
            <a:spAutoFit/>
          </a:bodyPr>
          <a:lstStyle/>
          <a:p>
            <a:pPr marL="0" marR="0" lvl="0" indent="0" algn="r" rtl="0">
              <a:spcBef>
                <a:spcPts val="0"/>
              </a:spcBef>
              <a:spcAft>
                <a:spcPts val="0"/>
              </a:spcAft>
              <a:buNone/>
            </a:pPr>
            <a:r>
              <a:rPr lang="en-US" sz="2000" i="1">
                <a:solidFill>
                  <a:schemeClr val="dk1"/>
                </a:solidFill>
                <a:latin typeface="Arial"/>
                <a:ea typeface="Arial"/>
                <a:cs typeface="Arial"/>
                <a:sym typeface="Arial"/>
              </a:rPr>
              <a:t>Captions set in a serif style font such as Times, 18 to 24 size, italic style. </a:t>
            </a:r>
            <a:endParaRPr/>
          </a:p>
          <a:p>
            <a:pPr marL="0" marR="0" lvl="0" indent="0" algn="r" rtl="0">
              <a:spcBef>
                <a:spcPts val="0"/>
              </a:spcBef>
              <a:spcAft>
                <a:spcPts val="0"/>
              </a:spcAft>
              <a:buNone/>
            </a:pPr>
            <a:endParaRPr sz="2000" i="1">
              <a:solidFill>
                <a:schemeClr val="dk1"/>
              </a:solidFill>
              <a:latin typeface="Arial"/>
              <a:ea typeface="Arial"/>
              <a:cs typeface="Arial"/>
              <a:sym typeface="Arial"/>
            </a:endParaRPr>
          </a:p>
          <a:p>
            <a:pPr marL="0" marR="0" lvl="0" indent="0" algn="r" rtl="0">
              <a:spcBef>
                <a:spcPts val="0"/>
              </a:spcBef>
              <a:spcAft>
                <a:spcPts val="0"/>
              </a:spcAft>
              <a:buNone/>
            </a:pPr>
            <a:r>
              <a:rPr lang="en-US" sz="2000" i="1">
                <a:solidFill>
                  <a:schemeClr val="dk1"/>
                </a:solidFill>
                <a:latin typeface="Arial"/>
                <a:ea typeface="Arial"/>
                <a:cs typeface="Arial"/>
                <a:sym typeface="Arial"/>
              </a:rPr>
              <a:t>Duis autem vel eum iriure dolor in hendrerit in vulputate velit esse molestie consequat.</a:t>
            </a:r>
            <a:endParaRPr sz="2000" i="1">
              <a:solidFill>
                <a:schemeClr val="dk1"/>
              </a:solidFill>
              <a:latin typeface="Arial"/>
              <a:ea typeface="Arial"/>
              <a:cs typeface="Arial"/>
              <a:sym typeface="Arial"/>
            </a:endParaRPr>
          </a:p>
        </p:txBody>
      </p:sp>
      <p:sp>
        <p:nvSpPr>
          <p:cNvPr id="65" name="Google Shape;65;p2"/>
          <p:cNvSpPr/>
          <p:nvPr/>
        </p:nvSpPr>
        <p:spPr>
          <a:xfrm>
            <a:off x="15708313" y="21996400"/>
            <a:ext cx="5399100" cy="3598800"/>
          </a:xfrm>
          <a:prstGeom prst="rect">
            <a:avLst/>
          </a:prstGeom>
          <a:solidFill>
            <a:srgbClr val="EEEEEE"/>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8600">
              <a:solidFill>
                <a:schemeClr val="dk1"/>
              </a:solidFill>
              <a:latin typeface="Arial"/>
              <a:ea typeface="Arial"/>
              <a:cs typeface="Arial"/>
              <a:sym typeface="Arial"/>
            </a:endParaRPr>
          </a:p>
        </p:txBody>
      </p:sp>
      <p:sp>
        <p:nvSpPr>
          <p:cNvPr id="66" name="Google Shape;66;p2"/>
          <p:cNvSpPr/>
          <p:nvPr/>
        </p:nvSpPr>
        <p:spPr>
          <a:xfrm>
            <a:off x="12192000" y="26276300"/>
            <a:ext cx="8915400" cy="3598800"/>
          </a:xfrm>
          <a:prstGeom prst="rect">
            <a:avLst/>
          </a:prstGeom>
          <a:solidFill>
            <a:srgbClr val="EEEEEE"/>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8600">
              <a:solidFill>
                <a:schemeClr val="dk1"/>
              </a:solidFill>
              <a:latin typeface="Arial"/>
              <a:ea typeface="Arial"/>
              <a:cs typeface="Arial"/>
              <a:sym typeface="Arial"/>
            </a:endParaRPr>
          </a:p>
        </p:txBody>
      </p:sp>
      <p:sp>
        <p:nvSpPr>
          <p:cNvPr id="67" name="Google Shape;67;p2"/>
          <p:cNvSpPr txBox="1"/>
          <p:nvPr/>
        </p:nvSpPr>
        <p:spPr>
          <a:xfrm>
            <a:off x="12192000" y="29994225"/>
            <a:ext cx="8915400" cy="1323900"/>
          </a:xfrm>
          <a:prstGeom prst="rect">
            <a:avLst/>
          </a:prstGeom>
          <a:noFill/>
          <a:ln>
            <a:noFill/>
          </a:ln>
        </p:spPr>
        <p:txBody>
          <a:bodyPr spcFirstLastPara="1" wrap="square" lIns="0" tIns="45700" rIns="0" bIns="45700" anchor="t" anchorCtr="0">
            <a:spAutoFit/>
          </a:bodyPr>
          <a:lstStyle/>
          <a:p>
            <a:pPr marL="0" marR="0" lvl="0" indent="0" algn="l" rtl="0">
              <a:spcBef>
                <a:spcPts val="0"/>
              </a:spcBef>
              <a:spcAft>
                <a:spcPts val="0"/>
              </a:spcAft>
              <a:buNone/>
            </a:pPr>
            <a:r>
              <a:rPr lang="en-US" sz="2000" i="1">
                <a:solidFill>
                  <a:schemeClr val="dk1"/>
                </a:solidFill>
                <a:latin typeface="Arial"/>
                <a:ea typeface="Arial"/>
                <a:cs typeface="Arial"/>
                <a:sym typeface="Arial"/>
              </a:rPr>
              <a:t>Captions set in a serif style font such as Times, 18 to 24 size, italic style. </a:t>
            </a:r>
            <a:endParaRPr/>
          </a:p>
          <a:p>
            <a:pPr marL="0" marR="0" lvl="0" indent="0" algn="l" rtl="0">
              <a:spcBef>
                <a:spcPts val="0"/>
              </a:spcBef>
              <a:spcAft>
                <a:spcPts val="0"/>
              </a:spcAft>
              <a:buNone/>
            </a:pPr>
            <a:endParaRPr sz="2000" i="1">
              <a:solidFill>
                <a:schemeClr val="dk1"/>
              </a:solidFill>
              <a:latin typeface="Arial"/>
              <a:ea typeface="Arial"/>
              <a:cs typeface="Arial"/>
              <a:sym typeface="Arial"/>
            </a:endParaRPr>
          </a:p>
          <a:p>
            <a:pPr marL="0" marR="0" lvl="0" indent="0" algn="l" rtl="0">
              <a:spcBef>
                <a:spcPts val="0"/>
              </a:spcBef>
              <a:spcAft>
                <a:spcPts val="0"/>
              </a:spcAft>
              <a:buNone/>
            </a:pPr>
            <a:r>
              <a:rPr lang="en-US" sz="2000" i="1">
                <a:solidFill>
                  <a:schemeClr val="dk1"/>
                </a:solidFill>
                <a:latin typeface="Arial"/>
                <a:ea typeface="Arial"/>
                <a:cs typeface="Arial"/>
                <a:sym typeface="Arial"/>
              </a:rPr>
              <a:t>Duis autem vel eum iriure dolor in hendrerit in vulputate velit esse molestie consequat.</a:t>
            </a:r>
            <a:endParaRPr sz="2000" i="1">
              <a:solidFill>
                <a:schemeClr val="dk1"/>
              </a:solidFill>
              <a:latin typeface="Arial"/>
              <a:ea typeface="Arial"/>
              <a:cs typeface="Arial"/>
              <a:sym typeface="Arial"/>
            </a:endParaRPr>
          </a:p>
        </p:txBody>
      </p:sp>
      <p:sp>
        <p:nvSpPr>
          <p:cNvPr id="68" name="Google Shape;68;p2"/>
          <p:cNvSpPr/>
          <p:nvPr/>
        </p:nvSpPr>
        <p:spPr>
          <a:xfrm>
            <a:off x="12192000" y="17724438"/>
            <a:ext cx="5399100" cy="3598800"/>
          </a:xfrm>
          <a:prstGeom prst="rect">
            <a:avLst/>
          </a:prstGeom>
          <a:solidFill>
            <a:srgbClr val="EEEEEE"/>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8600">
              <a:solidFill>
                <a:schemeClr val="dk1"/>
              </a:solidFill>
              <a:latin typeface="Arial"/>
              <a:ea typeface="Arial"/>
              <a:cs typeface="Arial"/>
              <a:sym typeface="Arial"/>
            </a:endParaRPr>
          </a:p>
        </p:txBody>
      </p:sp>
      <p:sp>
        <p:nvSpPr>
          <p:cNvPr id="69" name="Google Shape;69;p2"/>
          <p:cNvSpPr txBox="1"/>
          <p:nvPr/>
        </p:nvSpPr>
        <p:spPr>
          <a:xfrm>
            <a:off x="17602200" y="17518063"/>
            <a:ext cx="3505200" cy="2825700"/>
          </a:xfrm>
          <a:prstGeom prst="rect">
            <a:avLst/>
          </a:prstGeom>
          <a:noFill/>
          <a:ln>
            <a:noFill/>
          </a:ln>
        </p:spPr>
        <p:txBody>
          <a:bodyPr spcFirstLastPara="1" wrap="square" lIns="180000" tIns="180000" rIns="180000" bIns="180000" anchor="t" anchorCtr="0">
            <a:spAutoFit/>
          </a:bodyPr>
          <a:lstStyle/>
          <a:p>
            <a:pPr marL="0" marR="0" lvl="0" indent="0" algn="l" rtl="0">
              <a:spcBef>
                <a:spcPts val="0"/>
              </a:spcBef>
              <a:spcAft>
                <a:spcPts val="0"/>
              </a:spcAft>
              <a:buNone/>
            </a:pPr>
            <a:r>
              <a:rPr lang="en-US" sz="2000" i="1">
                <a:solidFill>
                  <a:schemeClr val="dk1"/>
                </a:solidFill>
                <a:latin typeface="Arial"/>
                <a:ea typeface="Arial"/>
                <a:cs typeface="Arial"/>
                <a:sym typeface="Arial"/>
              </a:rPr>
              <a:t>Captions set in a serif style font such as Times, 18 to 24 size, italic style. </a:t>
            </a:r>
            <a:endParaRPr/>
          </a:p>
          <a:p>
            <a:pPr marL="0" marR="0" lvl="0" indent="0" algn="l" rtl="0">
              <a:spcBef>
                <a:spcPts val="0"/>
              </a:spcBef>
              <a:spcAft>
                <a:spcPts val="0"/>
              </a:spcAft>
              <a:buNone/>
            </a:pPr>
            <a:endParaRPr sz="2000" i="1">
              <a:solidFill>
                <a:schemeClr val="dk1"/>
              </a:solidFill>
              <a:latin typeface="Arial"/>
              <a:ea typeface="Arial"/>
              <a:cs typeface="Arial"/>
              <a:sym typeface="Arial"/>
            </a:endParaRPr>
          </a:p>
          <a:p>
            <a:pPr marL="0" marR="0" lvl="0" indent="0" algn="l" rtl="0">
              <a:spcBef>
                <a:spcPts val="0"/>
              </a:spcBef>
              <a:spcAft>
                <a:spcPts val="0"/>
              </a:spcAft>
              <a:buNone/>
            </a:pPr>
            <a:r>
              <a:rPr lang="en-US" sz="2000" i="1">
                <a:solidFill>
                  <a:schemeClr val="dk1"/>
                </a:solidFill>
                <a:latin typeface="Arial"/>
                <a:ea typeface="Arial"/>
                <a:cs typeface="Arial"/>
                <a:sym typeface="Arial"/>
              </a:rPr>
              <a:t>Duis autem vel eum iriure dolor in hendrerit in vulputate velit esse molestie consequat.</a:t>
            </a:r>
            <a:endParaRPr sz="2000" i="1">
              <a:solidFill>
                <a:schemeClr val="dk1"/>
              </a:solidFill>
              <a:latin typeface="Arial"/>
              <a:ea typeface="Arial"/>
              <a:cs typeface="Arial"/>
              <a:sym typeface="Arial"/>
            </a:endParaRPr>
          </a:p>
        </p:txBody>
      </p:sp>
      <p:sp>
        <p:nvSpPr>
          <p:cNvPr id="70" name="Google Shape;70;p2"/>
          <p:cNvSpPr/>
          <p:nvPr/>
        </p:nvSpPr>
        <p:spPr>
          <a:xfrm>
            <a:off x="22794913" y="17724438"/>
            <a:ext cx="5399100" cy="3598800"/>
          </a:xfrm>
          <a:prstGeom prst="rect">
            <a:avLst/>
          </a:prstGeom>
          <a:solidFill>
            <a:srgbClr val="EEEEEE"/>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8600">
              <a:solidFill>
                <a:schemeClr val="dk1"/>
              </a:solidFill>
              <a:latin typeface="Arial"/>
              <a:ea typeface="Arial"/>
              <a:cs typeface="Arial"/>
              <a:sym typeface="Arial"/>
            </a:endParaRPr>
          </a:p>
        </p:txBody>
      </p:sp>
      <p:sp>
        <p:nvSpPr>
          <p:cNvPr id="71" name="Google Shape;71;p2"/>
          <p:cNvSpPr txBox="1"/>
          <p:nvPr/>
        </p:nvSpPr>
        <p:spPr>
          <a:xfrm>
            <a:off x="28205113" y="17518063"/>
            <a:ext cx="3505200" cy="2825700"/>
          </a:xfrm>
          <a:prstGeom prst="rect">
            <a:avLst/>
          </a:prstGeom>
          <a:noFill/>
          <a:ln>
            <a:noFill/>
          </a:ln>
        </p:spPr>
        <p:txBody>
          <a:bodyPr spcFirstLastPara="1" wrap="square" lIns="180000" tIns="180000" rIns="180000" bIns="180000" anchor="t" anchorCtr="0">
            <a:spAutoFit/>
          </a:bodyPr>
          <a:lstStyle/>
          <a:p>
            <a:pPr marL="0" marR="0" lvl="0" indent="0" algn="l" rtl="0">
              <a:spcBef>
                <a:spcPts val="0"/>
              </a:spcBef>
              <a:spcAft>
                <a:spcPts val="0"/>
              </a:spcAft>
              <a:buNone/>
            </a:pPr>
            <a:r>
              <a:rPr lang="en-US" sz="2000" i="1">
                <a:solidFill>
                  <a:schemeClr val="dk1"/>
                </a:solidFill>
                <a:latin typeface="Arial"/>
                <a:ea typeface="Arial"/>
                <a:cs typeface="Arial"/>
                <a:sym typeface="Arial"/>
              </a:rPr>
              <a:t>Captions set in a serif style font such as Times, 18 to 24 size, italic style. </a:t>
            </a:r>
            <a:endParaRPr/>
          </a:p>
          <a:p>
            <a:pPr marL="0" marR="0" lvl="0" indent="0" algn="l" rtl="0">
              <a:spcBef>
                <a:spcPts val="0"/>
              </a:spcBef>
              <a:spcAft>
                <a:spcPts val="0"/>
              </a:spcAft>
              <a:buNone/>
            </a:pPr>
            <a:endParaRPr sz="2000" i="1">
              <a:solidFill>
                <a:schemeClr val="dk1"/>
              </a:solidFill>
              <a:latin typeface="Arial"/>
              <a:ea typeface="Arial"/>
              <a:cs typeface="Arial"/>
              <a:sym typeface="Arial"/>
            </a:endParaRPr>
          </a:p>
          <a:p>
            <a:pPr marL="0" marR="0" lvl="0" indent="0" algn="l" rtl="0">
              <a:spcBef>
                <a:spcPts val="0"/>
              </a:spcBef>
              <a:spcAft>
                <a:spcPts val="0"/>
              </a:spcAft>
              <a:buNone/>
            </a:pPr>
            <a:r>
              <a:rPr lang="en-US" sz="2000" i="1">
                <a:solidFill>
                  <a:schemeClr val="dk1"/>
                </a:solidFill>
                <a:latin typeface="Arial"/>
                <a:ea typeface="Arial"/>
                <a:cs typeface="Arial"/>
                <a:sym typeface="Arial"/>
              </a:rPr>
              <a:t>Duis autem vel eum iriure dolor in hendrerit in vulputate velit esse molestie consequat.</a:t>
            </a:r>
            <a:endParaRPr sz="2000" i="1">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ASU Health Solutions 1">
      <a:dk1>
        <a:srgbClr val="000000"/>
      </a:dk1>
      <a:lt1>
        <a:srgbClr val="FFFFFF"/>
      </a:lt1>
      <a:dk2>
        <a:srgbClr val="8C1D40"/>
      </a:dk2>
      <a:lt2>
        <a:srgbClr val="FFC627"/>
      </a:lt2>
      <a:accent1>
        <a:srgbClr val="FFC627"/>
      </a:accent1>
      <a:accent2>
        <a:srgbClr val="78BE20"/>
      </a:accent2>
      <a:accent3>
        <a:srgbClr val="FF7F32"/>
      </a:accent3>
      <a:accent4>
        <a:srgbClr val="00A3E0"/>
      </a:accent4>
      <a:accent5>
        <a:srgbClr val="5C6670"/>
      </a:accent5>
      <a:accent6>
        <a:srgbClr val="8C1D40"/>
      </a:accent6>
      <a:hlink>
        <a:srgbClr val="5C6670"/>
      </a:hlink>
      <a:folHlink>
        <a:srgbClr val="5C667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1282</Words>
  <Application>Microsoft Macintosh PowerPoint</Application>
  <PresentationFormat>Custom</PresentationFormat>
  <Paragraphs>164</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Deanna Johnson Mullican</dc:creator>
  <cp:lastModifiedBy>Asiful Arefeen</cp:lastModifiedBy>
  <cp:revision>1</cp:revision>
  <dcterms:created xsi:type="dcterms:W3CDTF">2019-11-21T23:30:25Z</dcterms:created>
  <dcterms:modified xsi:type="dcterms:W3CDTF">2025-07-03T20:07:17Z</dcterms:modified>
</cp:coreProperties>
</file>